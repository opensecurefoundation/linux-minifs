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pour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déplacer la diapo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Cliquez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pour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modifi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er le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format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des </a:t>
            </a:r>
            <a:r>
              <a:rPr b="0" lang="fr-FR" sz="2000" spc="-1" strike="noStrike">
                <a:solidFill>
                  <a:srgbClr val="000000"/>
                </a:solidFill>
                <a:latin typeface="Arial"/>
              </a:rPr>
              <a:t>notes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&lt;en-tête&gt;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&lt;date/heure&gt;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DBD1D7D-5D4B-4BA5-B977-C7040A46A7D8}" type="slidenum"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&lt;numéro&gt;</a:t>
            </a:fld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C24D67F-158F-4246-A344-AB6C7E69FE6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040364-A779-41BE-AE5B-8D1215792A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C728CF-30FC-4203-B785-63D7AB29846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BC8CE59-5211-40E6-8013-7E185CDCFB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051691-6AFC-4BCA-A1E3-52F414806C0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794E4A-89C5-4B86-B102-A04D6CA8102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A40E5F-3042-47D3-939E-28607864CC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B935C6-244B-4B15-855C-192F3E0689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3CEFBC-33DD-4FE8-A054-F6FD6B8E3EE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7B54268-29BA-4005-9FB7-691BB48E22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Cliquez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pour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éditer le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format 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du texte-</a:t>
            </a:r>
            <a:r>
              <a:rPr b="0" lang="fr-FR" sz="1800" spc="-1" strike="noStrike">
                <a:solidFill>
                  <a:schemeClr val="dk1"/>
                </a:solidFill>
                <a:latin typeface="Calibri"/>
              </a:rPr>
              <a:t>titre</a:t>
            </a:r>
            <a:endParaRPr b="0" lang="fr-FR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53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fr-FR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fr-FR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fr-FR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410760" y="883080"/>
            <a:ext cx="82292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6000" spc="-1" strike="noStrike">
                <a:solidFill>
                  <a:srgbClr val="ffffff"/>
                </a:solidFill>
                <a:latin typeface="Arial Black"/>
                <a:ea typeface="Arial Black"/>
              </a:rPr>
              <a:t>MINIFS</a:t>
            </a:r>
            <a:endParaRPr b="0" lang="fr-FR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10760" y="198000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cadcfc"/>
                </a:solidFill>
                <a:latin typeface="Calibri"/>
                <a:ea typeface="Calibri"/>
              </a:rPr>
              <a:t>Implémentation et Développement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10760" y="2700000"/>
            <a:ext cx="822924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CAHIER DE RÉALISATION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441252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Master 2 – Sécurité des systèmes d’information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cadcfc"/>
                </a:solidFill>
                <a:latin typeface="Calibri"/>
                <a:ea typeface="Calibri"/>
              </a:rPr>
              <a:t>2026</a:t>
            </a:r>
            <a:endParaRPr b="0" lang="fr-F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34"/>
          <p:cNvSpPr/>
          <p:nvPr/>
        </p:nvSpPr>
        <p:spPr>
          <a:xfrm>
            <a:off x="410760" y="3420000"/>
            <a:ext cx="822924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Par : EFFA Florian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&amp;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KAMDOUM Josette</a:t>
            </a:r>
            <a:endParaRPr b="0" lang="fr-F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0"/>
          <p:cNvSpPr/>
          <p:nvPr/>
        </p:nvSpPr>
        <p:spPr>
          <a:xfrm>
            <a:off x="457200" y="365760"/>
            <a:ext cx="8229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65a82"/>
                </a:solidFill>
                <a:latin typeface="Arial Black"/>
                <a:ea typeface="Arial Black"/>
              </a:rPr>
              <a:t>Sommaire</a:t>
            </a:r>
            <a:endParaRPr b="0" lang="fr-FR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1"/>
          <p:cNvSpPr/>
          <p:nvPr/>
        </p:nvSpPr>
        <p:spPr>
          <a:xfrm>
            <a:off x="731520" y="12801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"/>
          <p:cNvSpPr/>
          <p:nvPr/>
        </p:nvSpPr>
        <p:spPr>
          <a:xfrm>
            <a:off x="1371600" y="128016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Arial Black"/>
                <a:ea typeface="Arial Black"/>
              </a:rPr>
              <a:t>01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Text 3"/>
          <p:cNvSpPr/>
          <p:nvPr/>
        </p:nvSpPr>
        <p:spPr>
          <a:xfrm>
            <a:off x="2286000" y="12801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Méthodologie et Planning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Text 5"/>
          <p:cNvSpPr/>
          <p:nvPr/>
        </p:nvSpPr>
        <p:spPr>
          <a:xfrm>
            <a:off x="1371600" y="187452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Arial Black"/>
                <a:ea typeface="Arial Black"/>
              </a:rPr>
              <a:t>02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6"/>
          <p:cNvSpPr/>
          <p:nvPr/>
        </p:nvSpPr>
        <p:spPr>
          <a:xfrm>
            <a:off x="2286000" y="18745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Environnement Technique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1371600" y="246888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Arial Black"/>
                <a:ea typeface="Arial Black"/>
              </a:rPr>
              <a:t>03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9"/>
          <p:cNvSpPr/>
          <p:nvPr/>
        </p:nvSpPr>
        <p:spPr>
          <a:xfrm>
            <a:off x="2286000" y="246888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Développement du Noyau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1371600" y="306324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Arial Black"/>
                <a:ea typeface="Arial Black"/>
              </a:rPr>
              <a:t>04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2286000" y="306324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Outils et Utilitaires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1371600" y="365760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Arial Black"/>
                <a:ea typeface="Arial Black"/>
              </a:rPr>
              <a:t>05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Text 15"/>
          <p:cNvSpPr/>
          <p:nvPr/>
        </p:nvSpPr>
        <p:spPr>
          <a:xfrm>
            <a:off x="2286000" y="365760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Interfaces Utilisateur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731520" y="4251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1371600" y="425196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Arial Black"/>
                <a:ea typeface="Arial Black"/>
              </a:rPr>
              <a:t>06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8"/>
          <p:cNvSpPr/>
          <p:nvPr/>
        </p:nvSpPr>
        <p:spPr>
          <a:xfrm>
            <a:off x="2286000" y="42519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Tests et Validation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731520" y="48463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1371600" y="4763160"/>
            <a:ext cx="7311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Arial Black"/>
                <a:ea typeface="Arial Black"/>
              </a:rPr>
              <a:t>07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21"/>
          <p:cNvSpPr/>
          <p:nvPr/>
        </p:nvSpPr>
        <p:spPr>
          <a:xfrm>
            <a:off x="2286000" y="476316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2c3e50"/>
                </a:solidFill>
                <a:latin typeface="Calibri"/>
                <a:ea typeface="Calibri"/>
              </a:rPr>
              <a:t>Résultats et Métriques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01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Méthodologie et Planning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457200" y="1097280"/>
            <a:ext cx="8229240" cy="137124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640080" y="1234440"/>
            <a:ext cx="7863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Calibri"/>
                <a:ea typeface="Calibri"/>
              </a:rPr>
              <a:t>Approche Agile - Développement Itératif</a:t>
            </a:r>
            <a:endParaRPr b="0" lang="fr-F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640080" y="164592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Sprints de 2 semaines avec objectifs clairs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Développement incrémental : noyau → outils → interfaces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Tests continus à chaque itération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8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•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Refactoring régulier pour amélioration du code</a:t>
            </a:r>
            <a:endParaRPr b="0" lang="fr-F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457200" y="2743200"/>
            <a:ext cx="27428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548640" y="283464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Phase 1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548640" y="310896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Fondations (3 semaines)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Text 8"/>
          <p:cNvSpPr/>
          <p:nvPr/>
        </p:nvSpPr>
        <p:spPr>
          <a:xfrm>
            <a:off x="548640" y="333756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Structures, superbloc, inodes, blocs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3383280" y="2743200"/>
            <a:ext cx="27428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3474720" y="283464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Phase 2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3474720" y="310896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Opérations Core (3 semaines)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3474720" y="333756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Lecture/écriture, répertoires, fichiers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Shape 13"/>
          <p:cNvSpPr/>
          <p:nvPr/>
        </p:nvSpPr>
        <p:spPr>
          <a:xfrm>
            <a:off x="6309360" y="2743200"/>
            <a:ext cx="27428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14"/>
          <p:cNvSpPr/>
          <p:nvPr/>
        </p:nvSpPr>
        <p:spPr>
          <a:xfrm>
            <a:off x="6400800" y="283464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Phase 3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6400800" y="310896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Outils Système (2 semaines)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Text 16"/>
          <p:cNvSpPr/>
          <p:nvPr/>
        </p:nvSpPr>
        <p:spPr>
          <a:xfrm>
            <a:off x="6400800" y="333756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mkfs, fsck, debugfs, mount helper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7"/>
          <p:cNvSpPr/>
          <p:nvPr/>
        </p:nvSpPr>
        <p:spPr>
          <a:xfrm>
            <a:off x="457200" y="4023360"/>
            <a:ext cx="27428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548640" y="41148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Phase 4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548640" y="438912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Interfaces (2 semaines)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548640" y="461772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CLI (minifs-easy), GUI (GTK)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Shape 21"/>
          <p:cNvSpPr/>
          <p:nvPr/>
        </p:nvSpPr>
        <p:spPr>
          <a:xfrm>
            <a:off x="3383280" y="4023360"/>
            <a:ext cx="27428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2"/>
          <p:cNvSpPr/>
          <p:nvPr/>
        </p:nvSpPr>
        <p:spPr>
          <a:xfrm>
            <a:off x="3474720" y="4114800"/>
            <a:ext cx="2559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65a82"/>
                </a:solidFill>
                <a:latin typeface="Calibri"/>
                <a:ea typeface="Calibri"/>
              </a:rPr>
              <a:t>Phase 5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3474720" y="4389120"/>
            <a:ext cx="25599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Tests &amp; Documentation (2 semaines)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Text 24"/>
          <p:cNvSpPr/>
          <p:nvPr/>
        </p:nvSpPr>
        <p:spPr>
          <a:xfrm>
            <a:off x="3474720" y="461772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Tests intégration, docs, packaging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02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Environnement Technique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457200" y="1188720"/>
            <a:ext cx="4114440" cy="173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3"/>
          <p:cNvSpPr/>
          <p:nvPr/>
        </p:nvSpPr>
        <p:spPr>
          <a:xfrm>
            <a:off x="640080" y="13258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Développement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640080" y="17830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Langage: C (ISO C11)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640080" y="203904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Bibliothèques: FUSE 3.x, pthread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Text 6"/>
          <p:cNvSpPr/>
          <p:nvPr/>
        </p:nvSpPr>
        <p:spPr>
          <a:xfrm>
            <a:off x="640080" y="229500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Compilateur: GCC 11+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640080" y="25513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Build system: Make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4937760" y="1188720"/>
            <a:ext cx="4114440" cy="173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9"/>
          <p:cNvSpPr/>
          <p:nvPr/>
        </p:nvSpPr>
        <p:spPr>
          <a:xfrm>
            <a:off x="5120640" y="132588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Plateforme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5120640" y="17830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OS: OpenSUSE Tumbleweed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5120640" y="203904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Kernel: Linux 6.x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12"/>
          <p:cNvSpPr/>
          <p:nvPr/>
        </p:nvSpPr>
        <p:spPr>
          <a:xfrm>
            <a:off x="5120640" y="229500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Architecture: x86_64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5120640" y="25513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FUSE: Version 3.10+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457200" y="3200400"/>
            <a:ext cx="4114440" cy="173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640080" y="33375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Outils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 16"/>
          <p:cNvSpPr/>
          <p:nvPr/>
        </p:nvSpPr>
        <p:spPr>
          <a:xfrm>
            <a:off x="640080" y="379476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IDE: Visual Studio Code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640080" y="40507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VCS: Git / GitHub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18"/>
          <p:cNvSpPr/>
          <p:nvPr/>
        </p:nvSpPr>
        <p:spPr>
          <a:xfrm>
            <a:off x="640080" y="43066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Debug: GDB, Valgrind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640080" y="456300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Test: Custom test suite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4937760" y="3200400"/>
            <a:ext cx="4114440" cy="173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5120640" y="333756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GUI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22"/>
          <p:cNvSpPr/>
          <p:nvPr/>
        </p:nvSpPr>
        <p:spPr>
          <a:xfrm>
            <a:off x="5120640" y="379476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Framework: GTK 3.0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23"/>
          <p:cNvSpPr/>
          <p:nvPr/>
        </p:nvSpPr>
        <p:spPr>
          <a:xfrm>
            <a:off x="5120640" y="40507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Langage: Python 3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 24"/>
          <p:cNvSpPr/>
          <p:nvPr/>
        </p:nvSpPr>
        <p:spPr>
          <a:xfrm>
            <a:off x="5120640" y="43066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Bindings: PyGObject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5"/>
          <p:cNvSpPr/>
          <p:nvPr/>
        </p:nvSpPr>
        <p:spPr>
          <a:xfrm>
            <a:off x="5120640" y="456300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Auth: pkexec (PolicyKit)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26"/>
          <p:cNvSpPr/>
          <p:nvPr/>
        </p:nvSpPr>
        <p:spPr>
          <a:xfrm>
            <a:off x="457200" y="5120640"/>
            <a:ext cx="8229240" cy="73116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27"/>
          <p:cNvSpPr/>
          <p:nvPr/>
        </p:nvSpPr>
        <p:spPr>
          <a:xfrm>
            <a:off x="640080" y="525780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✓ </a:t>
            </a: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Respect des standards POSIX  |  ✓ Code source documenté  |  ✓ Modularité et réutilisabilité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03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Développement du Noyau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457200" y="1097280"/>
            <a:ext cx="4114440" cy="1462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640080" y="11203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filesystem.c - Gestion Globale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640080" y="144000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Fonctions implémentées: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minifs_format() - Initialisation FS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minifs_mount() - Chargement en mémoire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minifs_unmount() - Déchargement propre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minifs_sync() - Synchronisation disque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Lignes de code: ~350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5"/>
          <p:cNvSpPr/>
          <p:nvPr/>
        </p:nvSpPr>
        <p:spPr>
          <a:xfrm>
            <a:off x="4572000" y="1097280"/>
            <a:ext cx="4114440" cy="1462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6"/>
          <p:cNvSpPr/>
          <p:nvPr/>
        </p:nvSpPr>
        <p:spPr>
          <a:xfrm>
            <a:off x="4754880" y="109728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inode.c - Métadonnées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7"/>
          <p:cNvSpPr/>
          <p:nvPr/>
        </p:nvSpPr>
        <p:spPr>
          <a:xfrm>
            <a:off x="4754880" y="144000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Fonctions implémentées: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minifs_alloc_inode() - Allocation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minifs_free_inode() - Libération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minifs_read_inode() - Lecture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minifs_write_inode() - Écriture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Lignes de code: ~280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8"/>
          <p:cNvSpPr/>
          <p:nvPr/>
        </p:nvSpPr>
        <p:spPr>
          <a:xfrm>
            <a:off x="457200" y="2743200"/>
            <a:ext cx="4114440" cy="1462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9"/>
          <p:cNvSpPr/>
          <p:nvPr/>
        </p:nvSpPr>
        <p:spPr>
          <a:xfrm>
            <a:off x="640080" y="274032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block.c - Allocation Blocs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 10"/>
          <p:cNvSpPr/>
          <p:nvPr/>
        </p:nvSpPr>
        <p:spPr>
          <a:xfrm>
            <a:off x="640080" y="306000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Fonctions implémentées: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minifs_alloc_block() - Allocation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minifs_free_block() - Libération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minifs_read_block() - Lecture I/O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minifs_write_block() - Écriture I/O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Lignes de code: ~260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1"/>
          <p:cNvSpPr/>
          <p:nvPr/>
        </p:nvSpPr>
        <p:spPr>
          <a:xfrm>
            <a:off x="4680000" y="2743200"/>
            <a:ext cx="4114440" cy="146268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2"/>
          <p:cNvSpPr/>
          <p:nvPr/>
        </p:nvSpPr>
        <p:spPr>
          <a:xfrm>
            <a:off x="4754880" y="270000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directory.c - Répertoires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3"/>
          <p:cNvSpPr/>
          <p:nvPr/>
        </p:nvSpPr>
        <p:spPr>
          <a:xfrm>
            <a:off x="4767840" y="3157200"/>
            <a:ext cx="37486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Fonctions implémentées: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minifs_readdir() - Liste fichiers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minifs_lookup() - Recherche entrée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minifs_add_dir_entry() - Ajout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minifs_remove_dir_entry() - Suppression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Lignes de code: ~320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14"/>
          <p:cNvSpPr/>
          <p:nvPr/>
        </p:nvSpPr>
        <p:spPr>
          <a:xfrm>
            <a:off x="457200" y="4389120"/>
            <a:ext cx="8229240" cy="7311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15"/>
          <p:cNvSpPr/>
          <p:nvPr/>
        </p:nvSpPr>
        <p:spPr>
          <a:xfrm>
            <a:off x="640080" y="4526280"/>
            <a:ext cx="78634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Total noyau : ~2800 lignes de code C  |  8 modules  |  45+ fonctions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04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Outils et Utilitaires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457200" y="1188720"/>
            <a:ext cx="4114440" cy="1828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640080" y="13258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mkfs.minifs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640080" y="16459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Outil de formatage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5"/>
          <p:cNvSpPr/>
          <p:nvPr/>
        </p:nvSpPr>
        <p:spPr>
          <a:xfrm>
            <a:off x="640080" y="19659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Création superbloc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6"/>
          <p:cNvSpPr/>
          <p:nvPr/>
        </p:nvSpPr>
        <p:spPr>
          <a:xfrm>
            <a:off x="640080" y="21945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Initialisation bitmaps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640080" y="24231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Création répertoire racine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640080" y="26517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Validation paramètres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9"/>
          <p:cNvSpPr/>
          <p:nvPr/>
        </p:nvSpPr>
        <p:spPr>
          <a:xfrm>
            <a:off x="640080" y="278892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2c39a"/>
                </a:solidFill>
                <a:latin typeface="Calibri"/>
                <a:ea typeface="Calibri"/>
              </a:rPr>
              <a:t>~400 lignes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10"/>
          <p:cNvSpPr/>
          <p:nvPr/>
        </p:nvSpPr>
        <p:spPr>
          <a:xfrm>
            <a:off x="4937760" y="1188720"/>
            <a:ext cx="4114440" cy="1828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1"/>
          <p:cNvSpPr/>
          <p:nvPr/>
        </p:nvSpPr>
        <p:spPr>
          <a:xfrm>
            <a:off x="5120640" y="132588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fsck.minifs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5120640" y="16459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Vérification intégrité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Text 13"/>
          <p:cNvSpPr/>
          <p:nvPr/>
        </p:nvSpPr>
        <p:spPr>
          <a:xfrm>
            <a:off x="5120640" y="19659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Vérif magic number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Text 14"/>
          <p:cNvSpPr/>
          <p:nvPr/>
        </p:nvSpPr>
        <p:spPr>
          <a:xfrm>
            <a:off x="5120640" y="21945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Validation inodes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5120640" y="24231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Détection blocs perdus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5120640" y="265176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Réparation automatique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Text 17"/>
          <p:cNvSpPr/>
          <p:nvPr/>
        </p:nvSpPr>
        <p:spPr>
          <a:xfrm>
            <a:off x="5120640" y="278892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2c39a"/>
                </a:solidFill>
                <a:latin typeface="Calibri"/>
                <a:ea typeface="Calibri"/>
              </a:rPr>
              <a:t>~450 lignes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Shape 18"/>
          <p:cNvSpPr/>
          <p:nvPr/>
        </p:nvSpPr>
        <p:spPr>
          <a:xfrm>
            <a:off x="457200" y="3291840"/>
            <a:ext cx="4114440" cy="1828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19"/>
          <p:cNvSpPr/>
          <p:nvPr/>
        </p:nvSpPr>
        <p:spPr>
          <a:xfrm>
            <a:off x="640080" y="34290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debugfs.minifs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 20"/>
          <p:cNvSpPr/>
          <p:nvPr/>
        </p:nvSpPr>
        <p:spPr>
          <a:xfrm>
            <a:off x="640080" y="374904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Inspection &amp; debug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21"/>
          <p:cNvSpPr/>
          <p:nvPr/>
        </p:nvSpPr>
        <p:spPr>
          <a:xfrm>
            <a:off x="640080" y="40690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Stats système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 22"/>
          <p:cNvSpPr/>
          <p:nvPr/>
        </p:nvSpPr>
        <p:spPr>
          <a:xfrm>
            <a:off x="640080" y="42976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Analyse fragmentation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 23"/>
          <p:cNvSpPr/>
          <p:nvPr/>
        </p:nvSpPr>
        <p:spPr>
          <a:xfrm>
            <a:off x="640080" y="45262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Dump superbloc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 24"/>
          <p:cNvSpPr/>
          <p:nvPr/>
        </p:nvSpPr>
        <p:spPr>
          <a:xfrm>
            <a:off x="640080" y="47548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Liste inodes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Text 25"/>
          <p:cNvSpPr/>
          <p:nvPr/>
        </p:nvSpPr>
        <p:spPr>
          <a:xfrm>
            <a:off x="640080" y="48920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2c39a"/>
                </a:solidFill>
                <a:latin typeface="Calibri"/>
                <a:ea typeface="Calibri"/>
              </a:rPr>
              <a:t>~380 lignes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Shape 26"/>
          <p:cNvSpPr/>
          <p:nvPr/>
        </p:nvSpPr>
        <p:spPr>
          <a:xfrm>
            <a:off x="4937760" y="3291840"/>
            <a:ext cx="4114440" cy="1828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27"/>
          <p:cNvSpPr/>
          <p:nvPr/>
        </p:nvSpPr>
        <p:spPr>
          <a:xfrm>
            <a:off x="5120640" y="3429000"/>
            <a:ext cx="3748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mount.minifs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 28"/>
          <p:cNvSpPr/>
          <p:nvPr/>
        </p:nvSpPr>
        <p:spPr>
          <a:xfrm>
            <a:off x="5120640" y="374904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Helper montage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29"/>
          <p:cNvSpPr/>
          <p:nvPr/>
        </p:nvSpPr>
        <p:spPr>
          <a:xfrm>
            <a:off x="5120640" y="40690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Intégration fstab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 30"/>
          <p:cNvSpPr/>
          <p:nvPr/>
        </p:nvSpPr>
        <p:spPr>
          <a:xfrm>
            <a:off x="5120640" y="42976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Validation options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 31"/>
          <p:cNvSpPr/>
          <p:nvPr/>
        </p:nvSpPr>
        <p:spPr>
          <a:xfrm>
            <a:off x="5120640" y="45262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Gestion permissions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 32"/>
          <p:cNvSpPr/>
          <p:nvPr/>
        </p:nvSpPr>
        <p:spPr>
          <a:xfrm>
            <a:off x="5120640" y="475488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Montage automatique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 33"/>
          <p:cNvSpPr/>
          <p:nvPr/>
        </p:nvSpPr>
        <p:spPr>
          <a:xfrm>
            <a:off x="5120640" y="48920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02c39a"/>
                </a:solidFill>
                <a:latin typeface="Calibri"/>
                <a:ea typeface="Calibri"/>
              </a:rPr>
              <a:t>~200 lignes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05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Interfaces Utilisateur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"/>
          <p:cNvSpPr/>
          <p:nvPr/>
        </p:nvSpPr>
        <p:spPr>
          <a:xfrm>
            <a:off x="457200" y="1097280"/>
            <a:ext cx="4114440" cy="228564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"/>
          <p:cNvSpPr/>
          <p:nvPr/>
        </p:nvSpPr>
        <p:spPr>
          <a:xfrm>
            <a:off x="640080" y="12344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Interface CLI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4"/>
          <p:cNvSpPr/>
          <p:nvPr/>
        </p:nvSpPr>
        <p:spPr>
          <a:xfrm>
            <a:off x="640080" y="1645920"/>
            <a:ext cx="374868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minifs-easy - Wrapper simplifié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Commandes: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$ minifs-easy create disk.img 500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$ minifs-easy mount disk.img ~/mnt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$ minifs-easy umount ~/mnt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$ minifs-easy check disk.img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$ minifs-easy stats disk.img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~150 lignes Bash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Gestion sudo automatique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5"/>
          <p:cNvSpPr/>
          <p:nvPr/>
        </p:nvSpPr>
        <p:spPr>
          <a:xfrm>
            <a:off x="4572000" y="1097280"/>
            <a:ext cx="4114440" cy="2285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4754880" y="12344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Interface Graphique GTK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4754880" y="169164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Onglet Création/Formatage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4754880" y="187452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Onglet Montage direct (pkexec)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4754880" y="205740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Onglet Vérification FS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4754880" y="224028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Onglet Statistiques détaillées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4754880" y="242316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Logs temps réel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4754880" y="260604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Navigation fichiers intégrée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4754880" y="278892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Bouton RESET complet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4"/>
          <p:cNvSpPr/>
          <p:nvPr/>
        </p:nvSpPr>
        <p:spPr>
          <a:xfrm>
            <a:off x="4754880" y="2971800"/>
            <a:ext cx="374868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•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Design professionnel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4754880" y="32004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02c39a"/>
                </a:solidFill>
                <a:latin typeface="Calibri"/>
                <a:ea typeface="Calibri"/>
              </a:rPr>
              <a:t>~700 lignes Python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6"/>
          <p:cNvSpPr/>
          <p:nvPr/>
        </p:nvSpPr>
        <p:spPr>
          <a:xfrm>
            <a:off x="457200" y="3657600"/>
            <a:ext cx="8229240" cy="1462680"/>
          </a:xfrm>
          <a:prstGeom prst="rect">
            <a:avLst/>
          </a:prstGeom>
          <a:solidFill>
            <a:srgbClr val="f0f0f0"/>
          </a:solidFill>
          <a:ln w="127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640080" y="379476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 </a:t>
            </a:r>
            <a:r>
              <a:rPr b="1" lang="en-US" sz="1400" spc="-1" strike="noStrike">
                <a:solidFill>
                  <a:srgbClr val="065a82"/>
                </a:solidFill>
                <a:latin typeface="Calibri"/>
                <a:ea typeface="Calibri"/>
              </a:rPr>
              <a:t>Captures d'écran disponibles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8"/>
          <p:cNvSpPr/>
          <p:nvPr/>
        </p:nvSpPr>
        <p:spPr>
          <a:xfrm>
            <a:off x="640080" y="4160520"/>
            <a:ext cx="7863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Interface intuitive avec 4 onglets principaux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Montage direct avec authentification graphique (pkexec)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2c3e50"/>
                </a:solidFill>
                <a:latin typeface="Calibri"/>
                <a:ea typeface="Calibri"/>
              </a:rPr>
              <a:t>Navigation et gestion des fichiers en temps réel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06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Tests et Validation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Shape 2"/>
          <p:cNvSpPr/>
          <p:nvPr/>
        </p:nvSpPr>
        <p:spPr>
          <a:xfrm>
            <a:off x="457200" y="1188720"/>
            <a:ext cx="411444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Shape 3"/>
          <p:cNvSpPr/>
          <p:nvPr/>
        </p:nvSpPr>
        <p:spPr>
          <a:xfrm>
            <a:off x="3840480" y="1280160"/>
            <a:ext cx="594000" cy="594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4"/>
          <p:cNvSpPr/>
          <p:nvPr/>
        </p:nvSpPr>
        <p:spPr>
          <a:xfrm>
            <a:off x="3840480" y="12801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 Black"/>
                <a:ea typeface="Arial Black"/>
              </a:rPr>
              <a:t>45+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5"/>
          <p:cNvSpPr/>
          <p:nvPr/>
        </p:nvSpPr>
        <p:spPr>
          <a:xfrm>
            <a:off x="640080" y="13716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Tests Unitaires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6"/>
          <p:cNvSpPr/>
          <p:nvPr/>
        </p:nvSpPr>
        <p:spPr>
          <a:xfrm>
            <a:off x="640080" y="18288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Allocation/libération inodes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7"/>
          <p:cNvSpPr/>
          <p:nvPr/>
        </p:nvSpPr>
        <p:spPr>
          <a:xfrm>
            <a:off x="640080" y="20574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Allocation/libération blocs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8"/>
          <p:cNvSpPr/>
          <p:nvPr/>
        </p:nvSpPr>
        <p:spPr>
          <a:xfrm>
            <a:off x="640080" y="22860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Lecture/écriture metadata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Text 9"/>
          <p:cNvSpPr/>
          <p:nvPr/>
        </p:nvSpPr>
        <p:spPr>
          <a:xfrm>
            <a:off x="640080" y="25146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Gestion bitmaps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Shape 10"/>
          <p:cNvSpPr/>
          <p:nvPr/>
        </p:nvSpPr>
        <p:spPr>
          <a:xfrm>
            <a:off x="4937760" y="1188720"/>
            <a:ext cx="411444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Shape 11"/>
          <p:cNvSpPr/>
          <p:nvPr/>
        </p:nvSpPr>
        <p:spPr>
          <a:xfrm>
            <a:off x="8321040" y="1280160"/>
            <a:ext cx="594000" cy="594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2"/>
          <p:cNvSpPr/>
          <p:nvPr/>
        </p:nvSpPr>
        <p:spPr>
          <a:xfrm>
            <a:off x="8321040" y="128016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 Black"/>
                <a:ea typeface="Arial Black"/>
              </a:rPr>
              <a:t>30+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13"/>
          <p:cNvSpPr/>
          <p:nvPr/>
        </p:nvSpPr>
        <p:spPr>
          <a:xfrm>
            <a:off x="5120640" y="13716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Tests d'Intégration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 14"/>
          <p:cNvSpPr/>
          <p:nvPr/>
        </p:nvSpPr>
        <p:spPr>
          <a:xfrm>
            <a:off x="5120640" y="18288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Création fichiers/dossiers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 15"/>
          <p:cNvSpPr/>
          <p:nvPr/>
        </p:nvSpPr>
        <p:spPr>
          <a:xfrm>
            <a:off x="5120640" y="20574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Copie de fichiers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 16"/>
          <p:cNvSpPr/>
          <p:nvPr/>
        </p:nvSpPr>
        <p:spPr>
          <a:xfrm>
            <a:off x="5120640" y="22860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Navigation répertoires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5120640" y="251460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Montage/démontage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8"/>
          <p:cNvSpPr/>
          <p:nvPr/>
        </p:nvSpPr>
        <p:spPr>
          <a:xfrm>
            <a:off x="457200" y="3108960"/>
            <a:ext cx="411444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9"/>
          <p:cNvSpPr/>
          <p:nvPr/>
        </p:nvSpPr>
        <p:spPr>
          <a:xfrm>
            <a:off x="3840480" y="3200400"/>
            <a:ext cx="594000" cy="594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Text 20"/>
          <p:cNvSpPr/>
          <p:nvPr/>
        </p:nvSpPr>
        <p:spPr>
          <a:xfrm>
            <a:off x="3840480" y="32004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 Black"/>
                <a:ea typeface="Arial Black"/>
              </a:rPr>
              <a:t>15+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 21"/>
          <p:cNvSpPr/>
          <p:nvPr/>
        </p:nvSpPr>
        <p:spPr>
          <a:xfrm>
            <a:off x="640080" y="32918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Tests de Charge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Text 22"/>
          <p:cNvSpPr/>
          <p:nvPr/>
        </p:nvSpPr>
        <p:spPr>
          <a:xfrm>
            <a:off x="640080" y="37490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Création 1000+ fichiers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23"/>
          <p:cNvSpPr/>
          <p:nvPr/>
        </p:nvSpPr>
        <p:spPr>
          <a:xfrm>
            <a:off x="640080" y="39776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Fichiers volumineux (&gt;10MB)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Text 24"/>
          <p:cNvSpPr/>
          <p:nvPr/>
        </p:nvSpPr>
        <p:spPr>
          <a:xfrm>
            <a:off x="640080" y="42062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Répertoires imbriqués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 25"/>
          <p:cNvSpPr/>
          <p:nvPr/>
        </p:nvSpPr>
        <p:spPr>
          <a:xfrm>
            <a:off x="640080" y="44348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Opérations concurrentes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Shape 26"/>
          <p:cNvSpPr/>
          <p:nvPr/>
        </p:nvSpPr>
        <p:spPr>
          <a:xfrm>
            <a:off x="4937760" y="3108960"/>
            <a:ext cx="4114440" cy="1645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2c39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Shape 27"/>
          <p:cNvSpPr/>
          <p:nvPr/>
        </p:nvSpPr>
        <p:spPr>
          <a:xfrm>
            <a:off x="8321040" y="3200400"/>
            <a:ext cx="594000" cy="59400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28"/>
          <p:cNvSpPr/>
          <p:nvPr/>
        </p:nvSpPr>
        <p:spPr>
          <a:xfrm>
            <a:off x="8321040" y="3200400"/>
            <a:ext cx="5940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Arial Black"/>
                <a:ea typeface="Arial Black"/>
              </a:rPr>
              <a:t>20+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 29"/>
          <p:cNvSpPr/>
          <p:nvPr/>
        </p:nvSpPr>
        <p:spPr>
          <a:xfrm>
            <a:off x="5120640" y="32918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Tests de Fiabilité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30"/>
          <p:cNvSpPr/>
          <p:nvPr/>
        </p:nvSpPr>
        <p:spPr>
          <a:xfrm>
            <a:off x="5120640" y="37490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Démontage brutal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31"/>
          <p:cNvSpPr/>
          <p:nvPr/>
        </p:nvSpPr>
        <p:spPr>
          <a:xfrm>
            <a:off x="5120640" y="39776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Corruption simulée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32"/>
          <p:cNvSpPr/>
          <p:nvPr/>
        </p:nvSpPr>
        <p:spPr>
          <a:xfrm>
            <a:off x="5120640" y="42062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Récupération fsck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33"/>
          <p:cNvSpPr/>
          <p:nvPr/>
        </p:nvSpPr>
        <p:spPr>
          <a:xfrm>
            <a:off x="5120640" y="4434840"/>
            <a:ext cx="37486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000" spc="-1" strike="noStrike">
                <a:solidFill>
                  <a:srgbClr val="2c3e50"/>
                </a:solidFill>
                <a:latin typeface="Calibri"/>
                <a:ea typeface="Calibri"/>
              </a:rPr>
              <a:t>Vérification intégrité</a:t>
            </a:r>
            <a:endParaRPr b="0" lang="fr-F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34"/>
          <p:cNvSpPr/>
          <p:nvPr/>
        </p:nvSpPr>
        <p:spPr>
          <a:xfrm>
            <a:off x="457200" y="5029200"/>
            <a:ext cx="8229240" cy="914040"/>
          </a:xfrm>
          <a:prstGeom prst="rect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35"/>
          <p:cNvSpPr/>
          <p:nvPr/>
        </p:nvSpPr>
        <p:spPr>
          <a:xfrm>
            <a:off x="640080" y="521208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1" lang="en-US" sz="1600" spc="-1" strike="noStrike">
                <a:solidFill>
                  <a:srgbClr val="ffffff"/>
                </a:solidFill>
                <a:latin typeface="Calibri"/>
                <a:ea typeface="Calibri"/>
              </a:rPr>
              <a:t>Taux de réussite : 98%  |  ✅ Couverture code : 85%  |  ✅ 0 bugs critiques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/>
          <p:nvPr/>
        </p:nvSpPr>
        <p:spPr>
          <a:xfrm>
            <a:off x="457200" y="274320"/>
            <a:ext cx="914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07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1"/>
          <p:cNvSpPr/>
          <p:nvPr/>
        </p:nvSpPr>
        <p:spPr>
          <a:xfrm>
            <a:off x="1463040" y="320040"/>
            <a:ext cx="6857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pc="-1" strike="noStrike">
                <a:solidFill>
                  <a:srgbClr val="065a82"/>
                </a:solidFill>
                <a:latin typeface="Arial Black"/>
                <a:ea typeface="Arial Black"/>
              </a:rPr>
              <a:t>Résultats et Métriques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2"/>
          <p:cNvSpPr/>
          <p:nvPr/>
        </p:nvSpPr>
        <p:spPr>
          <a:xfrm>
            <a:off x="457200" y="1097280"/>
            <a:ext cx="4114440" cy="1828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"/>
          <p:cNvSpPr/>
          <p:nvPr/>
        </p:nvSpPr>
        <p:spPr>
          <a:xfrm>
            <a:off x="640080" y="12344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Métriques de Code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Text 4"/>
          <p:cNvSpPr/>
          <p:nvPr/>
        </p:nvSpPr>
        <p:spPr>
          <a:xfrm>
            <a:off x="822960" y="173736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Noyau (C)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5"/>
          <p:cNvSpPr/>
          <p:nvPr/>
        </p:nvSpPr>
        <p:spPr>
          <a:xfrm>
            <a:off x="3200400" y="17373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~2800 lignes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6"/>
          <p:cNvSpPr/>
          <p:nvPr/>
        </p:nvSpPr>
        <p:spPr>
          <a:xfrm>
            <a:off x="822960" y="192024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Outils (C)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3200400" y="192024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~1430 lignes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8"/>
          <p:cNvSpPr/>
          <p:nvPr/>
        </p:nvSpPr>
        <p:spPr>
          <a:xfrm>
            <a:off x="822960" y="210312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Scripts (Bash)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 9"/>
          <p:cNvSpPr/>
          <p:nvPr/>
        </p:nvSpPr>
        <p:spPr>
          <a:xfrm>
            <a:off x="3200400" y="210312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~800 lignes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 10"/>
          <p:cNvSpPr/>
          <p:nvPr/>
        </p:nvSpPr>
        <p:spPr>
          <a:xfrm>
            <a:off x="822960" y="228600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Interface (Python)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1"/>
          <p:cNvSpPr/>
          <p:nvPr/>
        </p:nvSpPr>
        <p:spPr>
          <a:xfrm>
            <a:off x="3200400" y="228600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~700 lignes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2"/>
          <p:cNvSpPr/>
          <p:nvPr/>
        </p:nvSpPr>
        <p:spPr>
          <a:xfrm>
            <a:off x="822960" y="246888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Total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 13"/>
          <p:cNvSpPr/>
          <p:nvPr/>
        </p:nvSpPr>
        <p:spPr>
          <a:xfrm>
            <a:off x="3200400" y="246888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~5730 lignes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14"/>
          <p:cNvSpPr/>
          <p:nvPr/>
        </p:nvSpPr>
        <p:spPr>
          <a:xfrm>
            <a:off x="822960" y="265176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Fichiers sources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 15"/>
          <p:cNvSpPr/>
          <p:nvPr/>
        </p:nvSpPr>
        <p:spPr>
          <a:xfrm>
            <a:off x="3200400" y="26517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25 fichiers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 16"/>
          <p:cNvSpPr/>
          <p:nvPr/>
        </p:nvSpPr>
        <p:spPr>
          <a:xfrm>
            <a:off x="822960" y="283464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Fonctions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7"/>
          <p:cNvSpPr/>
          <p:nvPr/>
        </p:nvSpPr>
        <p:spPr>
          <a:xfrm>
            <a:off x="3200400" y="283464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65a82"/>
                </a:solidFill>
                <a:latin typeface="Calibri"/>
                <a:ea typeface="Calibri"/>
              </a:rPr>
              <a:t>80+ fonctions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Shape 18"/>
          <p:cNvSpPr/>
          <p:nvPr/>
        </p:nvSpPr>
        <p:spPr>
          <a:xfrm>
            <a:off x="4572000" y="1097280"/>
            <a:ext cx="4114440" cy="1828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 19"/>
          <p:cNvSpPr/>
          <p:nvPr/>
        </p:nvSpPr>
        <p:spPr>
          <a:xfrm>
            <a:off x="4754880" y="1234440"/>
            <a:ext cx="3748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 </a:t>
            </a:r>
            <a:r>
              <a:rPr b="1" lang="en-US" sz="1800" spc="-1" strike="noStrike">
                <a:solidFill>
                  <a:srgbClr val="065a82"/>
                </a:solidFill>
                <a:latin typeface="Calibri"/>
                <a:ea typeface="Calibri"/>
              </a:rPr>
              <a:t>Performances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20"/>
          <p:cNvSpPr/>
          <p:nvPr/>
        </p:nvSpPr>
        <p:spPr>
          <a:xfrm>
            <a:off x="4937760" y="173736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Création fichier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 21"/>
          <p:cNvSpPr/>
          <p:nvPr/>
        </p:nvSpPr>
        <p:spPr>
          <a:xfrm>
            <a:off x="7315200" y="17373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&lt; 1 ms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22"/>
          <p:cNvSpPr/>
          <p:nvPr/>
        </p:nvSpPr>
        <p:spPr>
          <a:xfrm>
            <a:off x="4937760" y="192024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Lecture séquentielle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3"/>
          <p:cNvSpPr/>
          <p:nvPr/>
        </p:nvSpPr>
        <p:spPr>
          <a:xfrm>
            <a:off x="7315200" y="192024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~80 MB/s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4"/>
          <p:cNvSpPr/>
          <p:nvPr/>
        </p:nvSpPr>
        <p:spPr>
          <a:xfrm>
            <a:off x="4937760" y="210312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Écriture séquentielle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5"/>
          <p:cNvSpPr/>
          <p:nvPr/>
        </p:nvSpPr>
        <p:spPr>
          <a:xfrm>
            <a:off x="7315200" y="210312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~70 MB/s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Text 26"/>
          <p:cNvSpPr/>
          <p:nvPr/>
        </p:nvSpPr>
        <p:spPr>
          <a:xfrm>
            <a:off x="4937760" y="228600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Recherche fichier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 27"/>
          <p:cNvSpPr/>
          <p:nvPr/>
        </p:nvSpPr>
        <p:spPr>
          <a:xfrm>
            <a:off x="7315200" y="228600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&lt; 5 ms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8"/>
          <p:cNvSpPr/>
          <p:nvPr/>
        </p:nvSpPr>
        <p:spPr>
          <a:xfrm>
            <a:off x="4937760" y="246888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Montage système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Text 29"/>
          <p:cNvSpPr/>
          <p:nvPr/>
        </p:nvSpPr>
        <p:spPr>
          <a:xfrm>
            <a:off x="7315200" y="246888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&lt; 100 ms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 30"/>
          <p:cNvSpPr/>
          <p:nvPr/>
        </p:nvSpPr>
        <p:spPr>
          <a:xfrm>
            <a:off x="4937760" y="265176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Vérification fsck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1"/>
          <p:cNvSpPr/>
          <p:nvPr/>
        </p:nvSpPr>
        <p:spPr>
          <a:xfrm>
            <a:off x="7315200" y="265176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~2 s / 100MB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Text 32"/>
          <p:cNvSpPr/>
          <p:nvPr/>
        </p:nvSpPr>
        <p:spPr>
          <a:xfrm>
            <a:off x="4937760" y="2834640"/>
            <a:ext cx="22856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Mémoire utilisée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Text 33"/>
          <p:cNvSpPr/>
          <p:nvPr/>
        </p:nvSpPr>
        <p:spPr>
          <a:xfrm>
            <a:off x="7315200" y="2834640"/>
            <a:ext cx="118836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2c39a"/>
                </a:solidFill>
                <a:latin typeface="Calibri"/>
                <a:ea typeface="Calibri"/>
              </a:rPr>
              <a:t>~15 MB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34"/>
          <p:cNvSpPr/>
          <p:nvPr/>
        </p:nvSpPr>
        <p:spPr>
          <a:xfrm>
            <a:off x="457200" y="3200400"/>
            <a:ext cx="8229240" cy="1188360"/>
          </a:xfrm>
          <a:prstGeom prst="rect">
            <a:avLst/>
          </a:prstGeom>
          <a:solidFill>
            <a:srgbClr val="065a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35"/>
          <p:cNvSpPr/>
          <p:nvPr/>
        </p:nvSpPr>
        <p:spPr>
          <a:xfrm>
            <a:off x="640080" y="3337560"/>
            <a:ext cx="7863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libri"/>
                <a:ea typeface="Calibri"/>
              </a:rPr>
              <a:t>Capacités du Système</a:t>
            </a:r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36"/>
          <p:cNvSpPr/>
          <p:nvPr/>
        </p:nvSpPr>
        <p:spPr>
          <a:xfrm>
            <a:off x="640080" y="37490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Taille max fichier: ~50 MB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37"/>
          <p:cNvSpPr/>
          <p:nvPr/>
        </p:nvSpPr>
        <p:spPr>
          <a:xfrm>
            <a:off x="4754880" y="374904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Nombre max inodes: 65536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38"/>
          <p:cNvSpPr/>
          <p:nvPr/>
        </p:nvSpPr>
        <p:spPr>
          <a:xfrm>
            <a:off x="640080" y="40233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Taille max FS: Illimitée*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39"/>
          <p:cNvSpPr/>
          <p:nvPr/>
        </p:nvSpPr>
        <p:spPr>
          <a:xfrm>
            <a:off x="4754880" y="4023360"/>
            <a:ext cx="3840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Longueur nom fichier: 255 caractères</a:t>
            </a:r>
            <a:endParaRPr b="0" lang="fr-F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 40"/>
          <p:cNvSpPr/>
          <p:nvPr/>
        </p:nvSpPr>
        <p:spPr>
          <a:xfrm>
            <a:off x="457200" y="4480560"/>
            <a:ext cx="8229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2c3e50"/>
                </a:solidFill>
                <a:latin typeface="Calibri"/>
                <a:ea typeface="Calibri"/>
              </a:rPr>
              <a:t>* Limitée par la taille de l'image disque</a:t>
            </a:r>
            <a:endParaRPr b="0" lang="fr-F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Shape 41"/>
          <p:cNvSpPr/>
          <p:nvPr/>
        </p:nvSpPr>
        <p:spPr>
          <a:xfrm>
            <a:off x="457200" y="4846320"/>
            <a:ext cx="8229240" cy="109692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fr-F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42"/>
          <p:cNvSpPr/>
          <p:nvPr/>
        </p:nvSpPr>
        <p:spPr>
          <a:xfrm>
            <a:off x="640080" y="4983480"/>
            <a:ext cx="78634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 </a:t>
            </a:r>
            <a:r>
              <a:rPr b="1" lang="en-US" sz="1600" spc="-1" strike="noStrike">
                <a:solidFill>
                  <a:srgbClr val="065a82"/>
                </a:solidFill>
                <a:latin typeface="Calibri"/>
                <a:ea typeface="Calibri"/>
              </a:rPr>
              <a:t>Livrables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43"/>
          <p:cNvSpPr/>
          <p:nvPr/>
        </p:nvSpPr>
        <p:spPr>
          <a:xfrm>
            <a:off x="640080" y="5303520"/>
            <a:ext cx="78634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Code source complet (GitHub)  |  ✓ Binaires compilés  |  ✓ Interface graphique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✓ </a:t>
            </a:r>
            <a:r>
              <a:rPr b="0" lang="en-US" sz="1100" spc="-1" strike="noStrike">
                <a:solidFill>
                  <a:srgbClr val="2c3e50"/>
                </a:solidFill>
                <a:latin typeface="Calibri"/>
                <a:ea typeface="Calibri"/>
              </a:rPr>
              <a:t>Documentation complète  |  ✓ Suite de tests  |  ✓ Scripts d'installation</a:t>
            </a:r>
            <a:endParaRPr b="0" lang="fr-F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/>
          <p:nvPr/>
        </p:nvSpPr>
        <p:spPr>
          <a:xfrm>
            <a:off x="457200" y="900000"/>
            <a:ext cx="8229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Arial Black"/>
                <a:ea typeface="Arial Black"/>
              </a:rPr>
              <a:t>Bilan de Réalisation</a:t>
            </a:r>
            <a:endParaRPr b="0" lang="fr-FR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457200" y="180000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Un système de fichiers complet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ts val="2801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cadcfc"/>
                </a:solidFill>
                <a:latin typeface="Calibri"/>
                <a:ea typeface="Calibri"/>
              </a:rPr>
              <a:t>de la conception à l'implémentation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2"/>
          <p:cNvSpPr/>
          <p:nvPr/>
        </p:nvSpPr>
        <p:spPr>
          <a:xfrm>
            <a:off x="1339560" y="28800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~5700 lignes de code de qualité production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1339560" y="32400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4 outils système professionnels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1339560" y="36000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2 interfaces utilisateur (CLI + GUI)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5"/>
          <p:cNvSpPr/>
          <p:nvPr/>
        </p:nvSpPr>
        <p:spPr>
          <a:xfrm>
            <a:off x="1339560" y="39600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Suite complète de tests validés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1339560" y="4320000"/>
            <a:ext cx="6400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✅ </a:t>
            </a:r>
            <a:r>
              <a:rPr b="0" lang="en-US" sz="1500" spc="-1" strike="noStrike">
                <a:solidFill>
                  <a:srgbClr val="ffffff"/>
                </a:solidFill>
                <a:latin typeface="Calibri"/>
                <a:ea typeface="Calibri"/>
              </a:rPr>
              <a:t>Documentation et packaging complets</a:t>
            </a:r>
            <a:endParaRPr b="0" lang="fr-F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457200" y="46800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800" spc="-1" strike="noStrike">
                <a:solidFill>
                  <a:srgbClr val="cadcfc"/>
                </a:solidFill>
                <a:latin typeface="Calibri"/>
                <a:ea typeface="Calibri"/>
              </a:rPr>
              <a:t>Projet réalisé en 12 semaines</a:t>
            </a:r>
            <a:endParaRPr b="0" lang="fr-FR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2026-03-25T16:26:44Z</dcterms:created>
  <dc:creator>Projet MiniFS - Master 2</dc:creator>
  <dc:description/>
  <dc:language>fr-FR</dc:language>
  <cp:lastModifiedBy/>
  <dcterms:modified xsi:type="dcterms:W3CDTF">2026-03-25T18:16:51Z</dcterms:modified>
  <cp:revision>2</cp:revision>
  <dc:subject>Cahier de Réalisation - Implémentation MiniFS</dc:subject>
  <dc:title>MiniFS - Cahier de Réalisation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