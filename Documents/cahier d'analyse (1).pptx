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Old Standard TT"/>
      <p:regular r:id="rId25"/>
      <p:bold r:id="rId26"/>
      <p:italic r:id="rId27"/>
    </p:embeddedFont>
    <p:embeddedFont>
      <p:font typeface="Bell MT"/>
      <p:regular r:id="rId28"/>
      <p:bold r:id="rId29"/>
      <p:italic r:id="rId30"/>
      <p:boldItalic r:id="rId31"/>
    </p:embeddedFont>
    <p:embeddedFont>
      <p:font typeface="Merriweather"/>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ldStandardTT-bold.fntdata"/><Relationship Id="rId25" Type="http://schemas.openxmlformats.org/officeDocument/2006/relationships/font" Target="fonts/OldStandardTT-regular.fntdata"/><Relationship Id="rId28" Type="http://schemas.openxmlformats.org/officeDocument/2006/relationships/font" Target="fonts/BellMT-regular.fntdata"/><Relationship Id="rId27" Type="http://schemas.openxmlformats.org/officeDocument/2006/relationships/font" Target="fonts/OldStandardT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ellM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ellMT-boldItalic.fntdata"/><Relationship Id="rId30" Type="http://schemas.openxmlformats.org/officeDocument/2006/relationships/font" Target="fonts/BellMT-italic.fntdata"/><Relationship Id="rId11" Type="http://schemas.openxmlformats.org/officeDocument/2006/relationships/slide" Target="slides/slide6.xml"/><Relationship Id="rId33" Type="http://schemas.openxmlformats.org/officeDocument/2006/relationships/font" Target="fonts/Merriweather-bold.fntdata"/><Relationship Id="rId10" Type="http://schemas.openxmlformats.org/officeDocument/2006/relationships/slide" Target="slides/slide5.xml"/><Relationship Id="rId32" Type="http://schemas.openxmlformats.org/officeDocument/2006/relationships/font" Target="fonts/Merriweather-regular.fntdata"/><Relationship Id="rId13" Type="http://schemas.openxmlformats.org/officeDocument/2006/relationships/slide" Target="slides/slide8.xml"/><Relationship Id="rId35" Type="http://schemas.openxmlformats.org/officeDocument/2006/relationships/font" Target="fonts/Merriweather-boldItalic.fntdata"/><Relationship Id="rId12" Type="http://schemas.openxmlformats.org/officeDocument/2006/relationships/slide" Target="slides/slide7.xml"/><Relationship Id="rId34" Type="http://schemas.openxmlformats.org/officeDocument/2006/relationships/font" Target="fonts/Merriweather-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63802d130c0f52e5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63802d130c0f52e5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63802d130c0f52e5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63802d130c0f52e5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63802d130c0f52e5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63802d130c0f52e5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63802d130c0f52e5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63802d130c0f52e5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63802d130c0f52e5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63802d130c0f52e5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63802d130c0f52e5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63802d130c0f52e5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63802d130c0f52e5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63802d130c0f52e5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63802d130c0f52e5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63802d130c0f52e5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63802d130c0f52e5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63802d130c0f52e5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63802d130c0f52e5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63802d130c0f52e5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63802d130c0f52e5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63802d130c0f52e5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63802d130c0f52e5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63802d130c0f52e5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63802d130c0f52e5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63802d130c0f52e5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63802d130c0f52e5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63802d130c0f52e5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63802d130c0f52e5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63802d130c0f52e5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63802d130c0f52e5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63802d130c0f52e5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63802d130c0f52e5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63802d130c0f52e5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63802d130c0f52e5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63802d130c0f52e5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63802d130c0f52e5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63802d130c0f52e5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1" Type="http://schemas.openxmlformats.org/officeDocument/2006/relationships/hyperlink" Target="https://docs.google.com/document/d/14atLJBTX_xPf-EhzZARAKuj_y7vX1Uqnd5Rw_Zli95Y/edit?pli=1&amp;tab=t.0#heading=h.n6dclg7iltdg" TargetMode="External"/><Relationship Id="rId10" Type="http://schemas.openxmlformats.org/officeDocument/2006/relationships/hyperlink" Target="https://docs.google.com/document/d/14atLJBTX_xPf-EhzZARAKuj_y7vX1Uqnd5Rw_Zli95Y/edit?pli=1&amp;tab=t.0#heading=h.y2ii2w1k07j7" TargetMode="External"/><Relationship Id="rId13" Type="http://schemas.openxmlformats.org/officeDocument/2006/relationships/hyperlink" Target="https://docs.google.com/document/d/14atLJBTX_xPf-EhzZARAKuj_y7vX1Uqnd5Rw_Zli95Y/edit?pli=1&amp;tab=t.0#heading=h.yg4jojrqnn6e" TargetMode="External"/><Relationship Id="rId12" Type="http://schemas.openxmlformats.org/officeDocument/2006/relationships/hyperlink" Target="https://docs.google.com/document/d/14atLJBTX_xPf-EhzZARAKuj_y7vX1Uqnd5Rw_Zli95Y/edit?pli=1&amp;tab=t.0#heading=h.vym2mf1v4i5y" TargetMode="Externa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docs.google.com/document/d/14atLJBTX_xPf-EhzZARAKuj_y7vX1Uqnd5Rw_Zli95Y/edit?pli=1&amp;tab=t.0#heading=h.wmp3u6io464z" TargetMode="External"/><Relationship Id="rId4" Type="http://schemas.openxmlformats.org/officeDocument/2006/relationships/hyperlink" Target="https://docs.google.com/document/d/14atLJBTX_xPf-EhzZARAKuj_y7vX1Uqnd5Rw_Zli95Y/edit?pli=1&amp;tab=t.0#heading=h.97fx5xb1rc2g" TargetMode="External"/><Relationship Id="rId9" Type="http://schemas.openxmlformats.org/officeDocument/2006/relationships/hyperlink" Target="https://docs.google.com/document/d/14atLJBTX_xPf-EhzZARAKuj_y7vX1Uqnd5Rw_Zli95Y/edit?pli=1&amp;tab=t.0#heading=h.tdkyzehp2gvj" TargetMode="External"/><Relationship Id="rId15" Type="http://schemas.openxmlformats.org/officeDocument/2006/relationships/hyperlink" Target="https://docs.google.com/document/d/14atLJBTX_xPf-EhzZARAKuj_y7vX1Uqnd5Rw_Zli95Y/edit?pli=1&amp;tab=t.0#heading=h.7j8pde6vsj6t" TargetMode="External"/><Relationship Id="rId14" Type="http://schemas.openxmlformats.org/officeDocument/2006/relationships/hyperlink" Target="https://docs.google.com/document/d/14atLJBTX_xPf-EhzZARAKuj_y7vX1Uqnd5Rw_Zli95Y/edit?pli=1&amp;tab=t.0#heading=h.5s5ulxx5uyj5" TargetMode="External"/><Relationship Id="rId5" Type="http://schemas.openxmlformats.org/officeDocument/2006/relationships/hyperlink" Target="https://docs.google.com/document/d/14atLJBTX_xPf-EhzZARAKuj_y7vX1Uqnd5Rw_Zli95Y/edit?pli=1&amp;tab=t.0#heading=h.458qgua6uh5" TargetMode="External"/><Relationship Id="rId6" Type="http://schemas.openxmlformats.org/officeDocument/2006/relationships/hyperlink" Target="https://docs.google.com/document/d/14atLJBTX_xPf-EhzZARAKuj_y7vX1Uqnd5Rw_Zli95Y/edit?pli=1&amp;tab=t.0#heading=h.raz2jyc5jc1n" TargetMode="External"/><Relationship Id="rId7" Type="http://schemas.openxmlformats.org/officeDocument/2006/relationships/hyperlink" Target="https://docs.google.com/document/d/14atLJBTX_xPf-EhzZARAKuj_y7vX1Uqnd5Rw_Zli95Y/edit?pli=1&amp;tab=t.0#heading=h.petz2flv0px" TargetMode="External"/><Relationship Id="rId8" Type="http://schemas.openxmlformats.org/officeDocument/2006/relationships/hyperlink" Target="https://docs.google.com/document/d/14atLJBTX_xPf-EhzZARAKuj_y7vX1Uqnd5Rw_Zli95Y/edit?pli=1&amp;tab=t.0#heading=h.z2g41giixg3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ocs.google.com/document/d/14atLJBTX_xPf-EhzZARAKuj_y7vX1Uqnd5Rw_Zli95Y/edit?pli=1&amp;tab=t.0#heading=h.y2ii2w1k07j7"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ocs.google.com/document/d/14atLJBTX_xPf-EhzZARAKuj_y7vX1Uqnd5Rw_Zli95Y/edit?pli=1&amp;tab=t.0#heading=h.y2ii2w1k07j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google.com/document/d/14atLJBTX_xPf-EhzZARAKuj_y7vX1Uqnd5Rw_Zli95Y/edit?pli=1&amp;tab=t.0#heading=h.yg4jojrqnn6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docs.google.com/document/d/14atLJBTX_xPf-EhzZARAKuj_y7vX1Uqnd5Rw_Zli95Y/edit?pli=1&amp;tab=t.0#heading=h.yg4jojrqnn6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docs.google.com/document/d/14atLJBTX_xPf-EhzZARAKuj_y7vX1Uqnd5Rw_Zli95Y/edit?pli=1&amp;tab=t.0#heading=h.yg4jojrqnn6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docs.google.com/document/d/14atLJBTX_xPf-EhzZARAKuj_y7vX1Uqnd5Rw_Zli95Y/edit?pli=1&amp;tab=t.0#heading=h.yg4jojrqnn6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docs.google.com/document/d/14atLJBTX_xPf-EhzZARAKuj_y7vX1Uqnd5Rw_Zli95Y/edit?pli=1&amp;tab=t.0#heading=h.yg4jojrqnn6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docs.google.com/document/d/14atLJBTX_xPf-EhzZARAKuj_y7vX1Uqnd5Rw_Zli95Y/edit?pli=1&amp;tab=t.0#heading=h.yg4jojrqnn6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docs.google.com/document/d/14atLJBTX_xPf-EhzZARAKuj_y7vX1Uqnd5Rw_Zli95Y/edit?pli=1&amp;tab=t.0#heading=h.yg4jojrqnn6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docs.google.com/document/d/14atLJBTX_xPf-EhzZARAKuj_y7vX1Uqnd5Rw_Zli95Y/edit?pli=1&amp;tab=t.0#heading=h.yg4jojrqnn6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docs.google.com/document/d/14atLJBTX_xPf-EhzZARAKuj_y7vX1Uqnd5Rw_Zli95Y/edit?pli=1&amp;tab=t.0#heading=h.yg4jojrqnn6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docs.google.com/document/d/14atLJBTX_xPf-EhzZARAKuj_y7vX1Uqnd5Rw_Zli95Y/edit?pli=1&amp;tab=t.0#heading=h.yg4jojrqnn6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160325" y="1893300"/>
            <a:ext cx="8853000" cy="1393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SzPct val="32142"/>
              <a:buNone/>
            </a:pPr>
            <a:r>
              <a:rPr b="1" lang="fr" sz="3080"/>
              <a:t>CAHIER D’ANALYSE</a:t>
            </a:r>
            <a:endParaRPr b="1" sz="3080"/>
          </a:p>
          <a:p>
            <a:pPr indent="0" lvl="0" marL="0" rtl="0" algn="l">
              <a:spcBef>
                <a:spcPts val="0"/>
              </a:spcBef>
              <a:spcAft>
                <a:spcPts val="0"/>
              </a:spcAft>
              <a:buSzPct val="32142"/>
              <a:buNone/>
            </a:pPr>
            <a:r>
              <a:rPr b="1" lang="fr" sz="3080"/>
              <a:t>Conception et développement de MiniFS, un type de système de fichiers minimal</a:t>
            </a:r>
            <a:r>
              <a:rPr lang="fr" sz="3680"/>
              <a:t>: </a:t>
            </a:r>
            <a:r>
              <a:rPr lang="fr" sz="3180"/>
              <a:t>cas de Open Suse</a:t>
            </a:r>
            <a:endParaRPr sz="3180"/>
          </a:p>
        </p:txBody>
      </p:sp>
      <p:sp>
        <p:nvSpPr>
          <p:cNvPr id="60" name="Google Shape;60;p13"/>
          <p:cNvSpPr txBox="1"/>
          <p:nvPr>
            <p:ph idx="1" type="subTitle"/>
          </p:nvPr>
        </p:nvSpPr>
        <p:spPr>
          <a:xfrm>
            <a:off x="304875" y="3286500"/>
            <a:ext cx="8118600" cy="1123200"/>
          </a:xfrm>
          <a:prstGeom prst="rect">
            <a:avLst/>
          </a:prstGeom>
        </p:spPr>
        <p:txBody>
          <a:bodyPr anchorCtr="0" anchor="t" bIns="91425" lIns="91425" spcFirstLastPara="1" rIns="91425" wrap="square" tIns="91425">
            <a:normAutofit fontScale="25000" lnSpcReduction="10000"/>
          </a:bodyPr>
          <a:lstStyle/>
          <a:p>
            <a:pPr indent="0" lvl="0" marL="0" rtl="0" algn="ctr">
              <a:spcBef>
                <a:spcPts val="0"/>
              </a:spcBef>
              <a:spcAft>
                <a:spcPts val="0"/>
              </a:spcAft>
              <a:buNone/>
            </a:pPr>
            <a:r>
              <a:rPr b="1" lang="fr" sz="5665">
                <a:solidFill>
                  <a:schemeClr val="lt1"/>
                </a:solidFill>
              </a:rPr>
              <a:t>Rédigé par:</a:t>
            </a:r>
            <a:endParaRPr b="1" sz="5665">
              <a:solidFill>
                <a:schemeClr val="lt1"/>
              </a:solidFill>
            </a:endParaRPr>
          </a:p>
          <a:p>
            <a:pPr indent="0" lvl="0" marL="0" rtl="0" algn="ctr">
              <a:spcBef>
                <a:spcPts val="0"/>
              </a:spcBef>
              <a:spcAft>
                <a:spcPts val="0"/>
              </a:spcAft>
              <a:buNone/>
            </a:pPr>
            <a:r>
              <a:t/>
            </a:r>
            <a:endParaRPr b="1" sz="5665">
              <a:solidFill>
                <a:schemeClr val="lt1"/>
              </a:solidFill>
            </a:endParaRPr>
          </a:p>
          <a:p>
            <a:pPr indent="0" lvl="0" marL="0" rtl="0" algn="ctr">
              <a:spcBef>
                <a:spcPts val="0"/>
              </a:spcBef>
              <a:spcAft>
                <a:spcPts val="0"/>
              </a:spcAft>
              <a:buNone/>
            </a:pPr>
            <a:r>
              <a:rPr b="1" lang="fr" sz="5665">
                <a:solidFill>
                  <a:schemeClr val="lt1"/>
                </a:solidFill>
              </a:rPr>
              <a:t>KAMDOUM TEUFENG Josette</a:t>
            </a:r>
            <a:endParaRPr b="1" sz="5665">
              <a:solidFill>
                <a:schemeClr val="lt1"/>
              </a:solidFill>
            </a:endParaRPr>
          </a:p>
          <a:p>
            <a:pPr indent="0" lvl="0" marL="0" rtl="0" algn="ctr">
              <a:spcBef>
                <a:spcPts val="0"/>
              </a:spcBef>
              <a:spcAft>
                <a:spcPts val="0"/>
              </a:spcAft>
              <a:buNone/>
            </a:pPr>
            <a:r>
              <a:rPr b="1" lang="fr" sz="5665">
                <a:solidFill>
                  <a:schemeClr val="lt1"/>
                </a:solidFill>
              </a:rPr>
              <a:t>EFFA Florian</a:t>
            </a:r>
            <a:endParaRPr b="1" sz="5665">
              <a:solidFill>
                <a:schemeClr val="lt1"/>
              </a:solidFill>
            </a:endParaRPr>
          </a:p>
          <a:p>
            <a:pPr indent="0" lvl="0" marL="0" rtl="0" algn="l">
              <a:spcBef>
                <a:spcPts val="0"/>
              </a:spcBef>
              <a:spcAft>
                <a:spcPts val="0"/>
              </a:spcAft>
              <a:buNone/>
            </a:pPr>
            <a:r>
              <a:t/>
            </a:r>
            <a:endParaRPr/>
          </a:p>
        </p:txBody>
      </p:sp>
      <p:pic>
        <p:nvPicPr>
          <p:cNvPr id="61" name="Google Shape;61;p13"/>
          <p:cNvPicPr preferRelativeResize="0"/>
          <p:nvPr/>
        </p:nvPicPr>
        <p:blipFill rotWithShape="1">
          <a:blip r:embed="rId3">
            <a:alphaModFix/>
          </a:blip>
          <a:srcRect b="0" l="0" r="0" t="0"/>
          <a:stretch/>
        </p:blipFill>
        <p:spPr>
          <a:xfrm>
            <a:off x="3923725" y="677100"/>
            <a:ext cx="1296561" cy="997750"/>
          </a:xfrm>
          <a:prstGeom prst="rect">
            <a:avLst/>
          </a:prstGeom>
          <a:noFill/>
          <a:ln>
            <a:noFill/>
          </a:ln>
        </p:spPr>
      </p:pic>
      <p:sp>
        <p:nvSpPr>
          <p:cNvPr id="62" name="Google Shape;62;p13"/>
          <p:cNvSpPr txBox="1"/>
          <p:nvPr/>
        </p:nvSpPr>
        <p:spPr>
          <a:xfrm>
            <a:off x="1607125" y="0"/>
            <a:ext cx="7124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3200">
                <a:solidFill>
                  <a:schemeClr val="lt1"/>
                </a:solidFill>
                <a:latin typeface="Bell MT"/>
                <a:ea typeface="Bell MT"/>
                <a:cs typeface="Bell MT"/>
                <a:sym typeface="Bell MT"/>
              </a:rPr>
              <a:t>SYSTEME D’EXPLOITATION</a:t>
            </a:r>
            <a:endParaRPr sz="600"/>
          </a:p>
        </p:txBody>
      </p:sp>
      <p:sp>
        <p:nvSpPr>
          <p:cNvPr id="63" name="Google Shape;63;p13"/>
          <p:cNvSpPr txBox="1"/>
          <p:nvPr/>
        </p:nvSpPr>
        <p:spPr>
          <a:xfrm>
            <a:off x="1082100" y="4215750"/>
            <a:ext cx="697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800" u="sng">
                <a:solidFill>
                  <a:schemeClr val="lt1"/>
                </a:solidFill>
              </a:rPr>
              <a:t>Sous la supervision</a:t>
            </a:r>
            <a:r>
              <a:rPr b="1" lang="fr" sz="1800">
                <a:solidFill>
                  <a:schemeClr val="lt1"/>
                </a:solidFill>
              </a:rPr>
              <a:t> : M. NGUIMBUS Emmanuel</a:t>
            </a:r>
            <a:endParaRPr>
              <a:solidFill>
                <a:schemeClr val="lt1"/>
              </a:solidFill>
            </a:endParaRPr>
          </a:p>
        </p:txBody>
      </p:sp>
      <p:sp>
        <p:nvSpPr>
          <p:cNvPr id="64" name="Google Shape;64;p13"/>
          <p:cNvSpPr txBox="1"/>
          <p:nvPr/>
        </p:nvSpPr>
        <p:spPr>
          <a:xfrm>
            <a:off x="6144000" y="4409700"/>
            <a:ext cx="3000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1800">
                <a:solidFill>
                  <a:schemeClr val="lt1"/>
                </a:solidFill>
                <a:latin typeface="Bell MT"/>
                <a:ea typeface="Bell MT"/>
                <a:cs typeface="Bell MT"/>
                <a:sym typeface="Bell MT"/>
              </a:rPr>
              <a:t>Année Académique 2025-2026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PLAN</a:t>
            </a:r>
            <a:endParaRPr/>
          </a:p>
        </p:txBody>
      </p:sp>
      <p:sp>
        <p:nvSpPr>
          <p:cNvPr id="70" name="Google Shape;70;p1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85000" lnSpcReduction="20000"/>
          </a:bodyPr>
          <a:lstStyle/>
          <a:p>
            <a:pPr indent="0" lvl="0" marL="0" rtl="0" algn="l">
              <a:lnSpc>
                <a:spcPct val="150000"/>
              </a:lnSpc>
              <a:spcBef>
                <a:spcPts val="300"/>
              </a:spcBef>
              <a:spcAft>
                <a:spcPts val="0"/>
              </a:spcAft>
              <a:buClr>
                <a:schemeClr val="dk1"/>
              </a:buClr>
              <a:buSzPct val="91666"/>
              <a:buFont typeface="Arial"/>
              <a:buNone/>
            </a:pPr>
            <a:r>
              <a:rPr b="1" lang="fr" sz="1200">
                <a:uFill>
                  <a:noFill/>
                </a:uFill>
                <a:latin typeface="Merriweather"/>
                <a:ea typeface="Merriweather"/>
                <a:cs typeface="Merriweather"/>
                <a:sym typeface="Merriweather"/>
                <a:hlinkClick r:id="rId3"/>
              </a:rPr>
              <a:t>INTRODUCTION	</a:t>
            </a:r>
            <a:endParaRPr b="1" sz="1100">
              <a:latin typeface="Arial"/>
              <a:ea typeface="Arial"/>
              <a:cs typeface="Arial"/>
              <a:sym typeface="Arial"/>
            </a:endParaRPr>
          </a:p>
          <a:p>
            <a:pPr indent="0" lvl="0" marL="2286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4"/>
              </a:rPr>
              <a:t>I- PRÉSENTATION	</a:t>
            </a:r>
            <a:endParaRPr sz="1100">
              <a:latin typeface="Arial"/>
              <a:ea typeface="Arial"/>
              <a:cs typeface="Arial"/>
              <a:sym typeface="Arial"/>
            </a:endParaRPr>
          </a:p>
          <a:p>
            <a:pPr indent="0" lvl="0" marL="4572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5"/>
              </a:rPr>
              <a:t>A. CONTEXTE	</a:t>
            </a:r>
            <a:endParaRPr sz="1100">
              <a:latin typeface="Arial"/>
              <a:ea typeface="Arial"/>
              <a:cs typeface="Arial"/>
              <a:sym typeface="Arial"/>
            </a:endParaRPr>
          </a:p>
          <a:p>
            <a:pPr indent="0" lvl="0" marL="4572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6"/>
              </a:rPr>
              <a:t>B. DEFINITION DU PROBLEME	</a:t>
            </a:r>
            <a:endParaRPr sz="1100">
              <a:latin typeface="Arial"/>
              <a:ea typeface="Arial"/>
              <a:cs typeface="Arial"/>
              <a:sym typeface="Arial"/>
            </a:endParaRPr>
          </a:p>
          <a:p>
            <a:pPr indent="0" lvl="0" marL="2286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7"/>
              </a:rPr>
              <a:t>II- BESOIN DU SYSTÈME</a:t>
            </a:r>
            <a:endParaRPr sz="1100">
              <a:latin typeface="Arial"/>
              <a:ea typeface="Arial"/>
              <a:cs typeface="Arial"/>
              <a:sym typeface="Arial"/>
            </a:endParaRPr>
          </a:p>
          <a:p>
            <a:pPr indent="0" lvl="0" marL="4572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8"/>
              </a:rPr>
              <a:t>A. BESOINS FONCTIONNELS	</a:t>
            </a:r>
            <a:endParaRPr sz="1100">
              <a:latin typeface="Arial"/>
              <a:ea typeface="Arial"/>
              <a:cs typeface="Arial"/>
              <a:sym typeface="Arial"/>
            </a:endParaRPr>
          </a:p>
          <a:p>
            <a:pPr indent="0" lvl="0" marL="4572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9"/>
              </a:rPr>
              <a:t>B. BESOINS NON FONCTIONNELS	</a:t>
            </a:r>
            <a:endParaRPr sz="1100">
              <a:latin typeface="Arial"/>
              <a:ea typeface="Arial"/>
              <a:cs typeface="Arial"/>
              <a:sym typeface="Arial"/>
            </a:endParaRPr>
          </a:p>
          <a:p>
            <a:pPr indent="0" lvl="0" marL="2286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10"/>
              </a:rPr>
              <a:t>III- CAS D’UTILISATION DU SYSTÈME	</a:t>
            </a:r>
            <a:endParaRPr sz="1100">
              <a:latin typeface="Arial"/>
              <a:ea typeface="Arial"/>
              <a:cs typeface="Arial"/>
              <a:sym typeface="Arial"/>
            </a:endParaRPr>
          </a:p>
          <a:p>
            <a:pPr indent="0" lvl="0" marL="4572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11"/>
              </a:rPr>
              <a:t>A. ACTEURS INTERNES	</a:t>
            </a:r>
            <a:endParaRPr sz="1100">
              <a:latin typeface="Arial"/>
              <a:ea typeface="Arial"/>
              <a:cs typeface="Arial"/>
              <a:sym typeface="Arial"/>
            </a:endParaRPr>
          </a:p>
          <a:p>
            <a:pPr indent="0" lvl="0" marL="4572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12"/>
              </a:rPr>
              <a:t>B. ACTEURS EXTERNES	</a:t>
            </a:r>
            <a:endParaRPr sz="1100">
              <a:latin typeface="Arial"/>
              <a:ea typeface="Arial"/>
              <a:cs typeface="Arial"/>
              <a:sym typeface="Arial"/>
            </a:endParaRPr>
          </a:p>
          <a:p>
            <a:pPr indent="0" lvl="0" marL="4572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13"/>
              </a:rPr>
              <a:t>C. CAS D’UTILISATIONS PROPREMENT DIT	</a:t>
            </a:r>
            <a:endParaRPr sz="1100">
              <a:latin typeface="Arial"/>
              <a:ea typeface="Arial"/>
              <a:cs typeface="Arial"/>
              <a:sym typeface="Arial"/>
            </a:endParaRPr>
          </a:p>
          <a:p>
            <a:pPr indent="0" lvl="0" marL="4572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14"/>
              </a:rPr>
              <a:t>D. DIAGRAMME DE CAS D’UTILISATION	</a:t>
            </a:r>
            <a:endParaRPr sz="1200">
              <a:latin typeface="Merriweather"/>
              <a:ea typeface="Merriweather"/>
              <a:cs typeface="Merriweather"/>
              <a:sym typeface="Merriweather"/>
            </a:endParaRPr>
          </a:p>
          <a:p>
            <a:pPr indent="0" lvl="0" marL="0" rtl="0" algn="l">
              <a:lnSpc>
                <a:spcPct val="150000"/>
              </a:lnSpc>
              <a:spcBef>
                <a:spcPts val="300"/>
              </a:spcBef>
              <a:spcAft>
                <a:spcPts val="0"/>
              </a:spcAft>
              <a:buClr>
                <a:schemeClr val="dk1"/>
              </a:buClr>
              <a:buSzPct val="91666"/>
              <a:buFont typeface="Arial"/>
              <a:buNone/>
            </a:pPr>
            <a:r>
              <a:rPr b="1" lang="fr" sz="1200">
                <a:uFill>
                  <a:noFill/>
                </a:uFill>
                <a:latin typeface="Merriweather"/>
                <a:ea typeface="Merriweather"/>
                <a:cs typeface="Merriweather"/>
                <a:sym typeface="Merriweather"/>
                <a:hlinkClick r:id="rId15"/>
              </a:rPr>
              <a:t>CONCLUSION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fr"/>
              <a:t>I. INTRODUCTION</a:t>
            </a:r>
            <a:endParaRPr b="1" baseline="30000"/>
          </a:p>
        </p:txBody>
      </p:sp>
      <p:sp>
        <p:nvSpPr>
          <p:cNvPr id="76" name="Google Shape;76;p1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 présent cahier des charges décrit les exigences techniques et fonctionnelles pour la conception, la réalisation et la validation d’un système de fichiers minimal, nommé MiniFS, destiné à fonctionner sur un environnement Linux, spécifiquement OpenSUSE.</a:t>
            </a:r>
            <a:endParaRPr/>
          </a:p>
          <a:p>
            <a:pPr indent="0" lvl="0" marL="0" rtl="0" algn="l">
              <a:spcBef>
                <a:spcPts val="1200"/>
              </a:spcBef>
              <a:spcAft>
                <a:spcPts val="1200"/>
              </a:spcAft>
              <a:buNone/>
            </a:pPr>
            <a:r>
              <a:rPr lang="fr"/>
              <a:t>MiniFS doit disposer d’une gestion simple mais fonctionnelle des structures essentielles d’un système de fichiers : superbloc, inodes, blocs de données, répertoires, allocations et opérations de base.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fr"/>
              <a:t>II. CONTEXTE</a:t>
            </a:r>
            <a:endParaRPr b="1"/>
          </a:p>
        </p:txBody>
      </p:sp>
      <p:sp>
        <p:nvSpPr>
          <p:cNvPr id="82" name="Google Shape;82;p1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fr"/>
              <a:t>MiniFS est un système de fichiers minimal développé dans un but pédagogique et expérimental, visant à illustrer de manière concrète le fonctionnement interne des systèmes de fichiers sous Linux.</a:t>
            </a:r>
            <a:endParaRPr/>
          </a:p>
          <a:p>
            <a:pPr indent="0" lvl="0" marL="0" rtl="0" algn="l">
              <a:spcBef>
                <a:spcPts val="1200"/>
              </a:spcBef>
              <a:spcAft>
                <a:spcPts val="0"/>
              </a:spcAft>
              <a:buNone/>
            </a:pPr>
            <a:r>
              <a:rPr lang="fr"/>
              <a:t>Il repose sur une architecture simplifiée mais fonctionnelle, intégrant les composants fondamentaux d’un système de fichiers classique, à savoir un superbloc, une table d’inodes, un mécanisme d’allocation de blocs, ainsi qu’un support des répertoires et des opérations de lecture et d’écriture.</a:t>
            </a:r>
            <a:endParaRPr/>
          </a:p>
          <a:p>
            <a:pPr indent="0" lvl="0" marL="0" rtl="0" algn="l">
              <a:spcBef>
                <a:spcPts val="1200"/>
              </a:spcBef>
              <a:spcAft>
                <a:spcPts val="0"/>
              </a:spcAft>
              <a:buNone/>
            </a:pPr>
            <a:r>
              <a:rPr lang="fr"/>
              <a:t>Contrairement aux systèmes de fichiers modernes tels que EXT4 ou XFS, qui intègrent des mécanismes avancés de performance, de journalisation et de tolérance aux pannes, MiniFS adopte une approche volontairement minimaliste afin de faciliter la compréhension des principes de base liés à l’organisation des données sur disque, à la gestion des métadonnées et à la problématique de la fragmentation.</a:t>
            </a:r>
            <a:endParaRPr/>
          </a:p>
          <a:p>
            <a:pPr indent="0" lvl="0" marL="0" rtl="0" algn="l">
              <a:spcBef>
                <a:spcPts val="1200"/>
              </a:spcBef>
              <a:spcAft>
                <a:spcPts val="1200"/>
              </a:spcAft>
              <a:buNone/>
            </a:pPr>
            <a:r>
              <a:rPr lang="fr"/>
              <a:t>Le projet MiniFS s’inscrit dans un cadre académique de niveau Master et constitue un outil d’apprentissage permettant d’analyser, de concevoir et d’implémenter un système de fichiers simple, tout en respectant les contraintes fondamentales d’un environnement Linux, notamment sous OpenSUSE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fr"/>
              <a:t>III. DEFINTION DU PROBLÈME</a:t>
            </a:r>
            <a:endParaRPr b="1"/>
          </a:p>
        </p:txBody>
      </p:sp>
      <p:sp>
        <p:nvSpPr>
          <p:cNvPr id="88" name="Google Shape;88;p1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2000"/>
              <a:t>La complexité des systèmes de fichiers modernes constitue un frein à la compréhension de leurs mécanismes internes. Le problème posé est donc la nécessité de concevoir un système de fichiers minimal, fonctionnel et cohérent, permettant d’illustrer de manière pratique les principes de base des systèmes de fichiers sous Linux, tout en restant suffisamment simple pour être analysé, implémenté et testé dans un environnement académique, notamment sous OpenSUSE</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II. BESOINS DU SYSTEME</a:t>
            </a:r>
            <a:endParaRPr/>
          </a:p>
        </p:txBody>
      </p:sp>
      <p:sp>
        <p:nvSpPr>
          <p:cNvPr id="94" name="Google Shape;94;p1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AutoNum type="alphaUcPeriod"/>
            </a:pPr>
            <a:r>
              <a:rPr lang="fr" sz="2000"/>
              <a:t>BESOINS FONCTIONNELS</a:t>
            </a:r>
            <a:endParaRPr sz="2000"/>
          </a:p>
          <a:p>
            <a:pPr indent="0" lvl="0" marL="0" rtl="0" algn="l">
              <a:spcBef>
                <a:spcPts val="1200"/>
              </a:spcBef>
              <a:spcAft>
                <a:spcPts val="0"/>
              </a:spcAft>
              <a:buNone/>
            </a:pPr>
            <a:r>
              <a:rPr lang="fr" sz="1300">
                <a:latin typeface="Arial"/>
                <a:ea typeface="Arial"/>
                <a:cs typeface="Arial"/>
                <a:sym typeface="Arial"/>
              </a:rPr>
              <a:t>Le système MiniFS doit satisfaire les besoins fonctionnels suivants :</a:t>
            </a:r>
            <a:endParaRPr sz="1300">
              <a:latin typeface="Arial"/>
              <a:ea typeface="Arial"/>
              <a:cs typeface="Arial"/>
              <a:sym typeface="Arial"/>
            </a:endParaRPr>
          </a:p>
          <a:p>
            <a:pPr indent="-311150" lvl="0" marL="457200" rtl="0" algn="l">
              <a:spcBef>
                <a:spcPts val="1200"/>
              </a:spcBef>
              <a:spcAft>
                <a:spcPts val="0"/>
              </a:spcAft>
              <a:buSzPts val="1300"/>
              <a:buFont typeface="Arial"/>
              <a:buChar char="●"/>
            </a:pPr>
            <a:r>
              <a:rPr lang="fr" sz="1300">
                <a:latin typeface="Arial"/>
                <a:ea typeface="Arial"/>
                <a:cs typeface="Arial"/>
                <a:sym typeface="Arial"/>
              </a:rPr>
              <a:t>Permettre le formatage d’un support de stockage (partition ou image disque)</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fr" sz="1300">
                <a:latin typeface="Arial"/>
                <a:ea typeface="Arial"/>
                <a:cs typeface="Arial"/>
                <a:sym typeface="Arial"/>
              </a:rPr>
              <a:t>Gérer un superbloc contenant les informations globales du système</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fr" sz="1300">
                <a:latin typeface="Arial"/>
                <a:ea typeface="Arial"/>
                <a:cs typeface="Arial"/>
                <a:sym typeface="Arial"/>
              </a:rPr>
              <a:t>Implémenter une table d’inodes pour représenter les fichiers et répertoires</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fr" sz="1300">
                <a:latin typeface="Arial"/>
                <a:ea typeface="Arial"/>
                <a:cs typeface="Arial"/>
                <a:sym typeface="Arial"/>
              </a:rPr>
              <a:t>Assurer l’allocation et la libération des blocs de données</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fr" sz="1300">
                <a:latin typeface="Arial"/>
                <a:ea typeface="Arial"/>
                <a:cs typeface="Arial"/>
                <a:sym typeface="Arial"/>
              </a:rPr>
              <a:t>Permettre la création, lecture, écriture et suppression de fichiers</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fr" sz="1300">
                <a:latin typeface="Arial"/>
                <a:ea typeface="Arial"/>
                <a:cs typeface="Arial"/>
                <a:sym typeface="Arial"/>
              </a:rPr>
              <a:t>Permettre la création et la gestion de répertoires</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fr" sz="1300">
                <a:latin typeface="Arial"/>
                <a:ea typeface="Arial"/>
                <a:cs typeface="Arial"/>
                <a:sym typeface="Arial"/>
              </a:rPr>
              <a:t>Assurer la navigation hiérarchique dans l’arborescence</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fr" sz="1300">
                <a:latin typeface="Arial"/>
                <a:ea typeface="Arial"/>
                <a:cs typeface="Arial"/>
                <a:sym typeface="Arial"/>
              </a:rPr>
              <a:t>Mettre à jour automatiquement les métadonnées (taille, dates, blocs utilisés)</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fr" sz="1300">
                <a:latin typeface="Arial"/>
                <a:ea typeface="Arial"/>
                <a:cs typeface="Arial"/>
                <a:sym typeface="Arial"/>
              </a:rPr>
              <a:t>Détecter de manière simple la fragmentation des fichiers</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fr" sz="1300">
                <a:latin typeface="Arial"/>
                <a:ea typeface="Arial"/>
                <a:cs typeface="Arial"/>
                <a:sym typeface="Arial"/>
              </a:rPr>
              <a:t>Permettre le montage et le démontage du système de fichiers</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2900"/>
              <a:t>II. BESOINS DU SYSTEME</a:t>
            </a:r>
            <a:endParaRPr sz="2900"/>
          </a:p>
        </p:txBody>
      </p:sp>
      <p:sp>
        <p:nvSpPr>
          <p:cNvPr id="100" name="Google Shape;100;p19"/>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2000"/>
              <a:t>B. </a:t>
            </a:r>
            <a:r>
              <a:rPr lang="fr" sz="2000"/>
              <a:t>BESOINS NON FONCTIONNELS</a:t>
            </a:r>
            <a:endParaRPr sz="2000"/>
          </a:p>
          <a:p>
            <a:pPr indent="0" lvl="0" marL="0" rtl="0" algn="l">
              <a:spcBef>
                <a:spcPts val="1200"/>
              </a:spcBef>
              <a:spcAft>
                <a:spcPts val="0"/>
              </a:spcAft>
              <a:buNone/>
            </a:pPr>
            <a:r>
              <a:rPr lang="fr" sz="1400">
                <a:latin typeface="Arial"/>
                <a:ea typeface="Arial"/>
                <a:cs typeface="Arial"/>
                <a:sym typeface="Arial"/>
              </a:rPr>
              <a:t>MiniFS doit également répondre aux exigences non fonctionnelles suivantes :</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lang="fr" sz="1400">
                <a:latin typeface="Arial"/>
                <a:ea typeface="Arial"/>
                <a:cs typeface="Arial"/>
                <a:sym typeface="Arial"/>
              </a:rPr>
              <a:t>Simplicité : architecture claire et compréhensible</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fr" sz="1400">
                <a:latin typeface="Arial"/>
                <a:ea typeface="Arial"/>
                <a:cs typeface="Arial"/>
                <a:sym typeface="Arial"/>
              </a:rPr>
              <a:t>Performance acceptable pour des volumes de taille modérée</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fr" sz="1400">
                <a:latin typeface="Arial"/>
                <a:ea typeface="Arial"/>
                <a:cs typeface="Arial"/>
                <a:sym typeface="Arial"/>
              </a:rPr>
              <a:t>Fiabilité minimale des opérations de lecture et écriture</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fr" sz="1400">
                <a:latin typeface="Arial"/>
                <a:ea typeface="Arial"/>
                <a:cs typeface="Arial"/>
                <a:sym typeface="Arial"/>
              </a:rPr>
              <a:t>Compatibilité Linux / OpenSUSE</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fr" sz="1400">
                <a:latin typeface="Arial"/>
                <a:ea typeface="Arial"/>
                <a:cs typeface="Arial"/>
                <a:sym typeface="Arial"/>
              </a:rPr>
              <a:t>Maintenabilité du code (structure modulaire)</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fr" sz="1400">
                <a:latin typeface="Arial"/>
                <a:ea typeface="Arial"/>
                <a:cs typeface="Arial"/>
                <a:sym typeface="Arial"/>
              </a:rPr>
              <a:t>Sécurité basique : gestion minimale des permissions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fr" sz="1400">
                <a:latin typeface="Arial"/>
                <a:ea typeface="Arial"/>
                <a:cs typeface="Arial"/>
                <a:sym typeface="Arial"/>
              </a:rPr>
              <a:t>Extensibilité : possibilité d’ajout de fonctionnalités futures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fr" sz="1400">
                <a:latin typeface="Arial"/>
                <a:ea typeface="Arial"/>
                <a:cs typeface="Arial"/>
                <a:sym typeface="Arial"/>
              </a:rPr>
              <a:t>Absence de dépendance noyau (utilisation de FUSE recommandée)</a:t>
            </a:r>
            <a:endParaRPr sz="14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228600" rtl="0" algn="l">
              <a:lnSpc>
                <a:spcPct val="150000"/>
              </a:lnSpc>
              <a:spcBef>
                <a:spcPts val="300"/>
              </a:spcBef>
              <a:spcAft>
                <a:spcPts val="0"/>
              </a:spcAft>
              <a:buClr>
                <a:schemeClr val="dk1"/>
              </a:buClr>
              <a:buSzPts val="1100"/>
              <a:buFont typeface="Arial"/>
              <a:buNone/>
            </a:pPr>
            <a:r>
              <a:rPr lang="fr" sz="2300">
                <a:uFill>
                  <a:noFill/>
                </a:uFill>
                <a:latin typeface="Merriweather"/>
                <a:ea typeface="Merriweather"/>
                <a:cs typeface="Merriweather"/>
                <a:sym typeface="Merriweather"/>
                <a:hlinkClick r:id="rId3"/>
              </a:rPr>
              <a:t>III- CAS D’UTILISATION DU SYSTÈME	</a:t>
            </a:r>
            <a:endParaRPr sz="4100"/>
          </a:p>
        </p:txBody>
      </p:sp>
      <p:sp>
        <p:nvSpPr>
          <p:cNvPr id="106" name="Google Shape;106;p20"/>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fr" sz="2300">
                <a:latin typeface="Arial"/>
                <a:ea typeface="Arial"/>
                <a:cs typeface="Arial"/>
                <a:sym typeface="Arial"/>
              </a:rPr>
              <a:t>A. Acteurs internes</a:t>
            </a:r>
            <a:endParaRPr b="1" sz="2300">
              <a:latin typeface="Arial"/>
              <a:ea typeface="Arial"/>
              <a:cs typeface="Arial"/>
              <a:sym typeface="Arial"/>
            </a:endParaRPr>
          </a:p>
          <a:p>
            <a:pPr indent="-336550" lvl="0" marL="457200" rtl="0" algn="l">
              <a:spcBef>
                <a:spcPts val="1200"/>
              </a:spcBef>
              <a:spcAft>
                <a:spcPts val="0"/>
              </a:spcAft>
              <a:buSzPts val="1700"/>
              <a:buFont typeface="Arial"/>
              <a:buChar char="●"/>
            </a:pPr>
            <a:r>
              <a:rPr b="1" lang="fr" sz="1700">
                <a:latin typeface="Arial"/>
                <a:ea typeface="Arial"/>
                <a:cs typeface="Arial"/>
                <a:sym typeface="Arial"/>
              </a:rPr>
              <a:t>Système MiniFS</a:t>
            </a:r>
            <a:endParaRPr b="1" sz="1700">
              <a:latin typeface="Arial"/>
              <a:ea typeface="Arial"/>
              <a:cs typeface="Arial"/>
              <a:sym typeface="Arial"/>
            </a:endParaRPr>
          </a:p>
          <a:p>
            <a:pPr indent="-336550" lvl="1" marL="914400" rtl="0" algn="l">
              <a:spcBef>
                <a:spcPts val="0"/>
              </a:spcBef>
              <a:spcAft>
                <a:spcPts val="0"/>
              </a:spcAft>
              <a:buSzPts val="1700"/>
              <a:buFont typeface="Arial"/>
              <a:buChar char="○"/>
            </a:pPr>
            <a:r>
              <a:rPr lang="fr" sz="1700">
                <a:latin typeface="Arial"/>
                <a:ea typeface="Arial"/>
                <a:cs typeface="Arial"/>
                <a:sym typeface="Arial"/>
              </a:rPr>
              <a:t>Gère les structures internes (superbloc, inodes, bitmap)</a:t>
            </a:r>
            <a:endParaRPr sz="1700">
              <a:latin typeface="Arial"/>
              <a:ea typeface="Arial"/>
              <a:cs typeface="Arial"/>
              <a:sym typeface="Arial"/>
            </a:endParaRPr>
          </a:p>
          <a:p>
            <a:pPr indent="-336550" lvl="1" marL="914400" rtl="0" algn="l">
              <a:spcBef>
                <a:spcPts val="0"/>
              </a:spcBef>
              <a:spcAft>
                <a:spcPts val="0"/>
              </a:spcAft>
              <a:buSzPts val="1700"/>
              <a:buFont typeface="Arial"/>
              <a:buChar char="○"/>
            </a:pPr>
            <a:r>
              <a:rPr lang="fr" sz="1700">
                <a:latin typeface="Arial"/>
                <a:ea typeface="Arial"/>
                <a:cs typeface="Arial"/>
                <a:sym typeface="Arial"/>
              </a:rPr>
              <a:t>Assure la cohérence des données</a:t>
            </a:r>
            <a:endParaRPr sz="1700">
              <a:latin typeface="Arial"/>
              <a:ea typeface="Arial"/>
              <a:cs typeface="Arial"/>
              <a:sym typeface="Arial"/>
            </a:endParaRPr>
          </a:p>
          <a:p>
            <a:pPr indent="-336550" lvl="0" marL="457200" rtl="0" algn="l">
              <a:spcBef>
                <a:spcPts val="0"/>
              </a:spcBef>
              <a:spcAft>
                <a:spcPts val="0"/>
              </a:spcAft>
              <a:buSzPts val="1700"/>
              <a:buFont typeface="Arial"/>
              <a:buChar char="●"/>
            </a:pPr>
            <a:r>
              <a:rPr b="1" lang="fr" sz="1700">
                <a:latin typeface="Arial"/>
                <a:ea typeface="Arial"/>
                <a:cs typeface="Arial"/>
                <a:sym typeface="Arial"/>
              </a:rPr>
              <a:t>Gestionnaire d’allocation</a:t>
            </a:r>
            <a:endParaRPr b="1" sz="1700">
              <a:latin typeface="Arial"/>
              <a:ea typeface="Arial"/>
              <a:cs typeface="Arial"/>
              <a:sym typeface="Arial"/>
            </a:endParaRPr>
          </a:p>
          <a:p>
            <a:pPr indent="-336550" lvl="1" marL="914400" rtl="0" algn="l">
              <a:spcBef>
                <a:spcPts val="0"/>
              </a:spcBef>
              <a:spcAft>
                <a:spcPts val="0"/>
              </a:spcAft>
              <a:buSzPts val="1700"/>
              <a:buFont typeface="Arial"/>
              <a:buChar char="○"/>
            </a:pPr>
            <a:r>
              <a:rPr lang="fr" sz="1700">
                <a:latin typeface="Arial"/>
                <a:ea typeface="Arial"/>
                <a:cs typeface="Arial"/>
                <a:sym typeface="Arial"/>
              </a:rPr>
              <a:t>Alloue et libère les blocs</a:t>
            </a:r>
            <a:endParaRPr sz="1700">
              <a:latin typeface="Arial"/>
              <a:ea typeface="Arial"/>
              <a:cs typeface="Arial"/>
              <a:sym typeface="Arial"/>
            </a:endParaRPr>
          </a:p>
          <a:p>
            <a:pPr indent="-336550" lvl="0" marL="457200" rtl="0" algn="l">
              <a:spcBef>
                <a:spcPts val="0"/>
              </a:spcBef>
              <a:spcAft>
                <a:spcPts val="0"/>
              </a:spcAft>
              <a:buSzPts val="1700"/>
              <a:buFont typeface="Arial"/>
              <a:buChar char="●"/>
            </a:pPr>
            <a:r>
              <a:rPr b="1" lang="fr" sz="1700">
                <a:latin typeface="Arial"/>
                <a:ea typeface="Arial"/>
                <a:cs typeface="Arial"/>
                <a:sym typeface="Arial"/>
              </a:rPr>
              <a:t>Gestionnaire des métadonnées</a:t>
            </a:r>
            <a:endParaRPr b="1" sz="1700">
              <a:latin typeface="Arial"/>
              <a:ea typeface="Arial"/>
              <a:cs typeface="Arial"/>
              <a:sym typeface="Arial"/>
            </a:endParaRPr>
          </a:p>
          <a:p>
            <a:pPr indent="-336550" lvl="1" marL="914400" rtl="0" algn="l">
              <a:spcBef>
                <a:spcPts val="0"/>
              </a:spcBef>
              <a:spcAft>
                <a:spcPts val="0"/>
              </a:spcAft>
              <a:buSzPts val="1700"/>
              <a:buFont typeface="Arial"/>
              <a:buChar char="○"/>
            </a:pPr>
            <a:r>
              <a:rPr lang="fr" sz="1700">
                <a:latin typeface="Arial"/>
                <a:ea typeface="Arial"/>
                <a:cs typeface="Arial"/>
                <a:sym typeface="Arial"/>
              </a:rPr>
              <a:t>Met à jour les informations des inodes</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228600" rtl="0" algn="l">
              <a:lnSpc>
                <a:spcPct val="150000"/>
              </a:lnSpc>
              <a:spcBef>
                <a:spcPts val="300"/>
              </a:spcBef>
              <a:spcAft>
                <a:spcPts val="0"/>
              </a:spcAft>
              <a:buNone/>
            </a:pPr>
            <a:r>
              <a:rPr lang="fr" sz="2300">
                <a:uFill>
                  <a:noFill/>
                </a:uFill>
                <a:latin typeface="Merriweather"/>
                <a:ea typeface="Merriweather"/>
                <a:cs typeface="Merriweather"/>
                <a:sym typeface="Merriweather"/>
                <a:hlinkClick r:id="rId3"/>
              </a:rPr>
              <a:t>III- CAS D’UTILISATION DU SYSTÈME	</a:t>
            </a:r>
            <a:endParaRPr sz="4100"/>
          </a:p>
        </p:txBody>
      </p:sp>
      <p:sp>
        <p:nvSpPr>
          <p:cNvPr id="112" name="Google Shape;112;p21"/>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85000" lnSpcReduction="20000"/>
          </a:bodyPr>
          <a:lstStyle/>
          <a:p>
            <a:pPr indent="0" lvl="0" marL="0" rtl="0" algn="l">
              <a:spcBef>
                <a:spcPts val="1800"/>
              </a:spcBef>
              <a:spcAft>
                <a:spcPts val="0"/>
              </a:spcAft>
              <a:buNone/>
            </a:pPr>
            <a:r>
              <a:rPr b="1" lang="fr" sz="1700">
                <a:latin typeface="Times New Roman"/>
                <a:ea typeface="Times New Roman"/>
                <a:cs typeface="Times New Roman"/>
                <a:sym typeface="Times New Roman"/>
              </a:rPr>
              <a:t>Acteurs internes</a:t>
            </a:r>
            <a:endParaRPr b="1" sz="1700">
              <a:latin typeface="Times New Roman"/>
              <a:ea typeface="Times New Roman"/>
              <a:cs typeface="Times New Roman"/>
              <a:sym typeface="Times New Roman"/>
            </a:endParaRPr>
          </a:p>
          <a:p>
            <a:pPr indent="-320357" lvl="0" marL="457200" rtl="0" algn="l">
              <a:spcBef>
                <a:spcPts val="1200"/>
              </a:spcBef>
              <a:spcAft>
                <a:spcPts val="0"/>
              </a:spcAft>
              <a:buSzPct val="100000"/>
              <a:buFont typeface="Times New Roman"/>
              <a:buChar char="●"/>
            </a:pPr>
            <a:r>
              <a:rPr b="1" lang="fr" sz="1700">
                <a:latin typeface="Times New Roman"/>
                <a:ea typeface="Times New Roman"/>
                <a:cs typeface="Times New Roman"/>
                <a:sym typeface="Times New Roman"/>
              </a:rPr>
              <a:t>MiniFS (cœur du système de fichiers)</a:t>
            </a:r>
            <a:br>
              <a:rPr b="1" lang="fr" sz="1700">
                <a:latin typeface="Times New Roman"/>
                <a:ea typeface="Times New Roman"/>
                <a:cs typeface="Times New Roman"/>
                <a:sym typeface="Times New Roman"/>
              </a:rPr>
            </a:br>
            <a:endParaRPr b="1" sz="1700">
              <a:latin typeface="Times New Roman"/>
              <a:ea typeface="Times New Roman"/>
              <a:cs typeface="Times New Roman"/>
              <a:sym typeface="Times New Roman"/>
            </a:endParaRPr>
          </a:p>
          <a:p>
            <a:pPr indent="-320357" lvl="1" marL="914400" rtl="0" algn="l">
              <a:spcBef>
                <a:spcPts val="0"/>
              </a:spcBef>
              <a:spcAft>
                <a:spcPts val="0"/>
              </a:spcAft>
              <a:buSzPct val="100000"/>
              <a:buFont typeface="Times New Roman"/>
              <a:buChar char="○"/>
            </a:pPr>
            <a:r>
              <a:rPr b="1" lang="fr" sz="1700">
                <a:latin typeface="Times New Roman"/>
                <a:ea typeface="Times New Roman"/>
                <a:cs typeface="Times New Roman"/>
                <a:sym typeface="Times New Roman"/>
              </a:rPr>
              <a:t>Gestion du superbloc</a:t>
            </a:r>
            <a:endParaRPr b="1" sz="1700">
              <a:latin typeface="Times New Roman"/>
              <a:ea typeface="Times New Roman"/>
              <a:cs typeface="Times New Roman"/>
              <a:sym typeface="Times New Roman"/>
            </a:endParaRPr>
          </a:p>
          <a:p>
            <a:pPr indent="-320357" lvl="1" marL="914400" rtl="0" algn="l">
              <a:spcBef>
                <a:spcPts val="0"/>
              </a:spcBef>
              <a:spcAft>
                <a:spcPts val="0"/>
              </a:spcAft>
              <a:buSzPct val="100000"/>
              <a:buFont typeface="Times New Roman"/>
              <a:buChar char="○"/>
            </a:pPr>
            <a:r>
              <a:rPr b="1" lang="fr" sz="1700">
                <a:latin typeface="Times New Roman"/>
                <a:ea typeface="Times New Roman"/>
                <a:cs typeface="Times New Roman"/>
                <a:sym typeface="Times New Roman"/>
              </a:rPr>
              <a:t>Gestion des inodes</a:t>
            </a:r>
            <a:endParaRPr b="1" sz="1700">
              <a:latin typeface="Times New Roman"/>
              <a:ea typeface="Times New Roman"/>
              <a:cs typeface="Times New Roman"/>
              <a:sym typeface="Times New Roman"/>
            </a:endParaRPr>
          </a:p>
          <a:p>
            <a:pPr indent="-320357" lvl="1" marL="914400" rtl="0" algn="l">
              <a:spcBef>
                <a:spcPts val="0"/>
              </a:spcBef>
              <a:spcAft>
                <a:spcPts val="0"/>
              </a:spcAft>
              <a:buSzPct val="100000"/>
              <a:buFont typeface="Times New Roman"/>
              <a:buChar char="○"/>
            </a:pPr>
            <a:r>
              <a:rPr b="1" lang="fr" sz="1700">
                <a:latin typeface="Times New Roman"/>
                <a:ea typeface="Times New Roman"/>
                <a:cs typeface="Times New Roman"/>
                <a:sym typeface="Times New Roman"/>
              </a:rPr>
              <a:t>Gestion des blocs</a:t>
            </a:r>
            <a:endParaRPr b="1" sz="1700">
              <a:latin typeface="Times New Roman"/>
              <a:ea typeface="Times New Roman"/>
              <a:cs typeface="Times New Roman"/>
              <a:sym typeface="Times New Roman"/>
            </a:endParaRPr>
          </a:p>
          <a:p>
            <a:pPr indent="-320357" lvl="1" marL="914400" rtl="0" algn="l">
              <a:spcBef>
                <a:spcPts val="0"/>
              </a:spcBef>
              <a:spcAft>
                <a:spcPts val="0"/>
              </a:spcAft>
              <a:buSzPct val="100000"/>
              <a:buFont typeface="Times New Roman"/>
              <a:buChar char="○"/>
            </a:pPr>
            <a:r>
              <a:rPr b="1" lang="fr" sz="1700">
                <a:latin typeface="Times New Roman"/>
                <a:ea typeface="Times New Roman"/>
                <a:cs typeface="Times New Roman"/>
                <a:sym typeface="Times New Roman"/>
              </a:rPr>
              <a:t>Cohérence des métadonnées</a:t>
            </a:r>
            <a:br>
              <a:rPr b="1" lang="fr" sz="1700">
                <a:latin typeface="Times New Roman"/>
                <a:ea typeface="Times New Roman"/>
                <a:cs typeface="Times New Roman"/>
                <a:sym typeface="Times New Roman"/>
              </a:rPr>
            </a:br>
            <a:endParaRPr b="1" sz="1700">
              <a:latin typeface="Times New Roman"/>
              <a:ea typeface="Times New Roman"/>
              <a:cs typeface="Times New Roman"/>
              <a:sym typeface="Times New Roman"/>
            </a:endParaRPr>
          </a:p>
          <a:p>
            <a:pPr indent="0" lvl="0" marL="0" rtl="0" algn="l">
              <a:spcBef>
                <a:spcPts val="1800"/>
              </a:spcBef>
              <a:spcAft>
                <a:spcPts val="0"/>
              </a:spcAft>
              <a:buNone/>
            </a:pPr>
            <a:r>
              <a:rPr b="1" lang="fr" sz="1700">
                <a:latin typeface="Times New Roman"/>
                <a:ea typeface="Times New Roman"/>
                <a:cs typeface="Times New Roman"/>
                <a:sym typeface="Times New Roman"/>
              </a:rPr>
              <a:t>Acteurs externes (corrects techniquement)</a:t>
            </a:r>
            <a:endParaRPr b="1" sz="1700">
              <a:latin typeface="Times New Roman"/>
              <a:ea typeface="Times New Roman"/>
              <a:cs typeface="Times New Roman"/>
              <a:sym typeface="Times New Roman"/>
            </a:endParaRPr>
          </a:p>
          <a:p>
            <a:pPr indent="457200" lvl="0" marL="0" rtl="0" algn="l">
              <a:spcBef>
                <a:spcPts val="1400"/>
              </a:spcBef>
              <a:spcAft>
                <a:spcPts val="0"/>
              </a:spcAft>
              <a:buNone/>
            </a:pPr>
            <a:r>
              <a:rPr b="1" lang="fr" sz="1300">
                <a:latin typeface="Times New Roman"/>
                <a:ea typeface="Times New Roman"/>
                <a:cs typeface="Times New Roman"/>
                <a:sym typeface="Times New Roman"/>
              </a:rPr>
              <a:t>1. Noyau Linux / VFS (Virtual File System)</a:t>
            </a:r>
            <a:endParaRPr b="1" sz="1300">
              <a:latin typeface="Times New Roman"/>
              <a:ea typeface="Times New Roman"/>
              <a:cs typeface="Times New Roman"/>
              <a:sym typeface="Times New Roman"/>
            </a:endParaRPr>
          </a:p>
          <a:p>
            <a:pPr indent="0" lvl="0" marL="914400" rtl="0" algn="l">
              <a:spcBef>
                <a:spcPts val="1200"/>
              </a:spcBef>
              <a:spcAft>
                <a:spcPts val="1200"/>
              </a:spcAft>
              <a:buNone/>
            </a:pPr>
            <a:r>
              <a:t/>
            </a:r>
            <a:endParaRPr b="1" sz="23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287825"/>
            <a:ext cx="8520600" cy="357000"/>
          </a:xfrm>
          <a:prstGeom prst="rect">
            <a:avLst/>
          </a:prstGeom>
        </p:spPr>
        <p:txBody>
          <a:bodyPr anchorCtr="0" anchor="t" bIns="91425" lIns="91425" spcFirstLastPara="1" rIns="91425" wrap="square" tIns="91425">
            <a:normAutofit fontScale="90000"/>
          </a:bodyPr>
          <a:lstStyle/>
          <a:p>
            <a:pPr indent="0" lvl="0" marL="457200" rtl="0" algn="l">
              <a:lnSpc>
                <a:spcPct val="150000"/>
              </a:lnSpc>
              <a:spcBef>
                <a:spcPts val="300"/>
              </a:spcBef>
              <a:spcAft>
                <a:spcPts val="0"/>
              </a:spcAft>
              <a:buClr>
                <a:schemeClr val="dk1"/>
              </a:buClr>
              <a:buSzPct val="91666"/>
              <a:buFont typeface="Arial"/>
              <a:buNone/>
            </a:pPr>
            <a:r>
              <a:rPr lang="fr" sz="1200">
                <a:uFill>
                  <a:noFill/>
                </a:uFill>
                <a:latin typeface="Merriweather"/>
                <a:ea typeface="Merriweather"/>
                <a:cs typeface="Merriweather"/>
                <a:sym typeface="Merriweather"/>
                <a:hlinkClick r:id="rId3"/>
              </a:rPr>
              <a:t>C. CAS D’UTILISATIONS PROPREMENT DIT	</a:t>
            </a:r>
            <a:endParaRPr/>
          </a:p>
        </p:txBody>
      </p:sp>
      <p:sp>
        <p:nvSpPr>
          <p:cNvPr id="118" name="Google Shape;118;p22"/>
          <p:cNvSpPr txBox="1"/>
          <p:nvPr>
            <p:ph idx="1" type="body"/>
          </p:nvPr>
        </p:nvSpPr>
        <p:spPr>
          <a:xfrm>
            <a:off x="455800" y="644825"/>
            <a:ext cx="8520600" cy="3397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fr" sz="1000">
                <a:latin typeface="Arial"/>
                <a:ea typeface="Arial"/>
                <a:cs typeface="Arial"/>
                <a:sym typeface="Arial"/>
              </a:rPr>
              <a:t>Cas d’utilisation 1 : Création d’un fichier</a:t>
            </a:r>
            <a:endParaRPr b="1" sz="1000">
              <a:latin typeface="Arial"/>
              <a:ea typeface="Arial"/>
              <a:cs typeface="Arial"/>
              <a:sym typeface="Arial"/>
            </a:endParaRPr>
          </a:p>
          <a:p>
            <a:pPr indent="-285750" lvl="0" marL="457200" rtl="0" algn="l">
              <a:spcBef>
                <a:spcPts val="1200"/>
              </a:spcBef>
              <a:spcAft>
                <a:spcPts val="0"/>
              </a:spcAft>
              <a:buSzPts val="900"/>
              <a:buFont typeface="Arial"/>
              <a:buChar char="●"/>
            </a:pPr>
            <a:r>
              <a:rPr b="1" lang="fr" sz="900">
                <a:latin typeface="Times New Roman"/>
                <a:ea typeface="Times New Roman"/>
                <a:cs typeface="Times New Roman"/>
                <a:sym typeface="Times New Roman"/>
              </a:rPr>
              <a:t>Intitu</a:t>
            </a:r>
            <a:r>
              <a:rPr b="1" lang="fr" sz="900">
                <a:latin typeface="Times New Roman"/>
                <a:ea typeface="Times New Roman"/>
                <a:cs typeface="Times New Roman"/>
                <a:sym typeface="Times New Roman"/>
              </a:rPr>
              <a:t>lé</a:t>
            </a:r>
            <a:r>
              <a:rPr lang="fr" sz="900">
                <a:latin typeface="Times New Roman"/>
                <a:ea typeface="Times New Roman"/>
                <a:cs typeface="Times New Roman"/>
                <a:sym typeface="Times New Roman"/>
              </a:rPr>
              <a:t> : Création d’un fichier</a:t>
            </a:r>
            <a:endParaRPr sz="900">
              <a:latin typeface="Times New Roman"/>
              <a:ea typeface="Times New Roman"/>
              <a:cs typeface="Times New Roman"/>
              <a:sym typeface="Times New Roman"/>
            </a:endParaRPr>
          </a:p>
          <a:p>
            <a:pPr indent="-285750" lvl="0" marL="457200" rtl="0" algn="l">
              <a:spcBef>
                <a:spcPts val="0"/>
              </a:spcBef>
              <a:spcAft>
                <a:spcPts val="0"/>
              </a:spcAft>
              <a:buSzPts val="900"/>
              <a:buFont typeface="Arial"/>
              <a:buChar char="●"/>
            </a:pPr>
            <a:r>
              <a:rPr b="1" lang="fr" sz="900">
                <a:latin typeface="Times New Roman"/>
                <a:ea typeface="Times New Roman"/>
                <a:cs typeface="Times New Roman"/>
                <a:sym typeface="Times New Roman"/>
              </a:rPr>
              <a:t>Objectif</a:t>
            </a:r>
            <a:r>
              <a:rPr lang="fr" sz="900">
                <a:latin typeface="Times New Roman"/>
                <a:ea typeface="Times New Roman"/>
                <a:cs typeface="Times New Roman"/>
                <a:sym typeface="Times New Roman"/>
              </a:rPr>
              <a:t> : Créer une nouvelle entité fichier dans le système MiniFS</a:t>
            </a:r>
            <a:endParaRPr sz="900">
              <a:latin typeface="Times New Roman"/>
              <a:ea typeface="Times New Roman"/>
              <a:cs typeface="Times New Roman"/>
              <a:sym typeface="Times New Roman"/>
            </a:endParaRPr>
          </a:p>
          <a:p>
            <a:pPr indent="-285750" lvl="0" marL="457200" rtl="0" algn="l">
              <a:spcBef>
                <a:spcPts val="0"/>
              </a:spcBef>
              <a:spcAft>
                <a:spcPts val="0"/>
              </a:spcAft>
              <a:buSzPts val="900"/>
              <a:buFont typeface="Arial"/>
              <a:buChar char="●"/>
            </a:pPr>
            <a:r>
              <a:rPr b="1" lang="fr" sz="900">
                <a:latin typeface="Times New Roman"/>
                <a:ea typeface="Times New Roman"/>
                <a:cs typeface="Times New Roman"/>
                <a:sym typeface="Times New Roman"/>
              </a:rPr>
              <a:t>Résumé</a:t>
            </a:r>
            <a:r>
              <a:rPr lang="fr" sz="900">
                <a:latin typeface="Times New Roman"/>
                <a:ea typeface="Times New Roman"/>
                <a:cs typeface="Times New Roman"/>
                <a:sym typeface="Times New Roman"/>
              </a:rPr>
              <a:t> : Suite à une requête du noyau Linux via le VFS, MiniFS crée un inode de type fichier et l’enregistre dans le répertoire cible.</a:t>
            </a:r>
            <a:endParaRPr sz="900">
              <a:latin typeface="Times New Roman"/>
              <a:ea typeface="Times New Roman"/>
              <a:cs typeface="Times New Roman"/>
              <a:sym typeface="Times New Roman"/>
            </a:endParaRPr>
          </a:p>
          <a:p>
            <a:pPr indent="-285750" lvl="0" marL="457200" rtl="0" algn="l">
              <a:spcBef>
                <a:spcPts val="0"/>
              </a:spcBef>
              <a:spcAft>
                <a:spcPts val="0"/>
              </a:spcAft>
              <a:buSzPts val="900"/>
              <a:buFont typeface="Arial"/>
              <a:buChar char="●"/>
            </a:pPr>
            <a:r>
              <a:rPr b="1" lang="fr" sz="900">
                <a:latin typeface="Times New Roman"/>
                <a:ea typeface="Times New Roman"/>
                <a:cs typeface="Times New Roman"/>
                <a:sym typeface="Times New Roman"/>
              </a:rPr>
              <a:t>Acteurs</a:t>
            </a:r>
            <a:r>
              <a:rPr lang="fr" sz="900">
                <a:latin typeface="Times New Roman"/>
                <a:ea typeface="Times New Roman"/>
                <a:cs typeface="Times New Roman"/>
                <a:sym typeface="Times New Roman"/>
              </a:rPr>
              <a:t> :</a:t>
            </a:r>
            <a:br>
              <a:rPr lang="fr" sz="900">
                <a:latin typeface="Times New Roman"/>
                <a:ea typeface="Times New Roman"/>
                <a:cs typeface="Times New Roman"/>
                <a:sym typeface="Times New Roman"/>
              </a:rPr>
            </a:br>
            <a:r>
              <a:rPr b="1" lang="fr" sz="900">
                <a:latin typeface="Times New Roman"/>
                <a:ea typeface="Times New Roman"/>
                <a:cs typeface="Times New Roman"/>
                <a:sym typeface="Times New Roman"/>
              </a:rPr>
              <a:t>Noyau Linux / VFS</a:t>
            </a:r>
            <a:endParaRPr b="1"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b="1" lang="fr" sz="900">
                <a:latin typeface="Times New Roman"/>
                <a:ea typeface="Times New Roman"/>
                <a:cs typeface="Times New Roman"/>
                <a:sym typeface="Times New Roman"/>
              </a:rPr>
              <a:t>MiniFS</a:t>
            </a:r>
            <a:endParaRPr b="1" sz="900">
              <a:latin typeface="Times New Roman"/>
              <a:ea typeface="Times New Roman"/>
              <a:cs typeface="Times New Roman"/>
              <a:sym typeface="Times New Roman"/>
            </a:endParaRPr>
          </a:p>
          <a:p>
            <a:pPr indent="-285750" lvl="0" marL="457200" rtl="0" algn="l">
              <a:spcBef>
                <a:spcPts val="0"/>
              </a:spcBef>
              <a:spcAft>
                <a:spcPts val="0"/>
              </a:spcAft>
              <a:buSzPts val="900"/>
              <a:buFont typeface="Arial"/>
              <a:buChar char="●"/>
            </a:pPr>
            <a:r>
              <a:rPr b="1" lang="fr" sz="900">
                <a:latin typeface="Times New Roman"/>
                <a:ea typeface="Times New Roman"/>
                <a:cs typeface="Times New Roman"/>
                <a:sym typeface="Times New Roman"/>
              </a:rPr>
              <a:t>Préconditions</a:t>
            </a:r>
            <a:r>
              <a:rPr lang="fr" sz="900">
                <a:latin typeface="Times New Roman"/>
                <a:ea typeface="Times New Roman"/>
                <a:cs typeface="Times New Roman"/>
                <a:sym typeface="Times New Roman"/>
              </a:rPr>
              <a:t> :</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Le système de fichiers MiniFS est monté</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Le répertoire parent existe</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Des inodes libres sont disponibles</a:t>
            </a:r>
            <a:endParaRPr sz="900">
              <a:latin typeface="Times New Roman"/>
              <a:ea typeface="Times New Roman"/>
              <a:cs typeface="Times New Roman"/>
              <a:sym typeface="Times New Roman"/>
            </a:endParaRPr>
          </a:p>
          <a:p>
            <a:pPr indent="-285750" lvl="0" marL="457200" rtl="0" algn="l">
              <a:spcBef>
                <a:spcPts val="0"/>
              </a:spcBef>
              <a:spcAft>
                <a:spcPts val="0"/>
              </a:spcAft>
              <a:buSzPts val="900"/>
              <a:buFont typeface="Arial"/>
              <a:buChar char="●"/>
            </a:pPr>
            <a:r>
              <a:rPr b="1" lang="fr" sz="900">
                <a:latin typeface="Times New Roman"/>
                <a:ea typeface="Times New Roman"/>
                <a:cs typeface="Times New Roman"/>
                <a:sym typeface="Times New Roman"/>
              </a:rPr>
              <a:t>Postconditions</a:t>
            </a:r>
            <a:r>
              <a:rPr lang="fr" sz="900">
                <a:latin typeface="Times New Roman"/>
                <a:ea typeface="Times New Roman"/>
                <a:cs typeface="Times New Roman"/>
                <a:sym typeface="Times New Roman"/>
              </a:rPr>
              <a:t> :</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Un inode de type fichier est alloué</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Une entrée est ajoutée dans le répertoire parent</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Les métadonnées du fichier sont initialisées</a:t>
            </a:r>
            <a:endParaRPr sz="900">
              <a:latin typeface="Times New Roman"/>
              <a:ea typeface="Times New Roman"/>
              <a:cs typeface="Times New Roman"/>
              <a:sym typeface="Times New Roman"/>
            </a:endParaRPr>
          </a:p>
          <a:p>
            <a:pPr indent="-285750" lvl="0" marL="457200" rtl="0" algn="l">
              <a:spcBef>
                <a:spcPts val="0"/>
              </a:spcBef>
              <a:spcAft>
                <a:spcPts val="0"/>
              </a:spcAft>
              <a:buSzPts val="900"/>
              <a:buFont typeface="Arial"/>
              <a:buChar char="●"/>
            </a:pPr>
            <a:r>
              <a:rPr b="1" lang="fr" sz="900">
                <a:latin typeface="Times New Roman"/>
                <a:ea typeface="Times New Roman"/>
                <a:cs typeface="Times New Roman"/>
                <a:sym typeface="Times New Roman"/>
              </a:rPr>
              <a:t>Scénario nominal</a:t>
            </a:r>
            <a:r>
              <a:rPr lang="fr" sz="900">
                <a:latin typeface="Times New Roman"/>
                <a:ea typeface="Times New Roman"/>
                <a:cs typeface="Times New Roman"/>
                <a:sym typeface="Times New Roman"/>
              </a:rPr>
              <a:t> :</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Arial"/>
              <a:buChar char="○"/>
            </a:pPr>
            <a:r>
              <a:rPr lang="fr" sz="900">
                <a:latin typeface="Times New Roman"/>
                <a:ea typeface="Times New Roman"/>
                <a:cs typeface="Times New Roman"/>
                <a:sym typeface="Times New Roman"/>
              </a:rPr>
              <a:t>Le VFS invoque l’opération de création de fichier (</a:t>
            </a:r>
            <a:r>
              <a:rPr lang="fr" sz="900">
                <a:solidFill>
                  <a:srgbClr val="188038"/>
                </a:solidFill>
                <a:latin typeface="Times New Roman"/>
                <a:ea typeface="Times New Roman"/>
                <a:cs typeface="Times New Roman"/>
                <a:sym typeface="Times New Roman"/>
              </a:rPr>
              <a:t>create</a:t>
            </a:r>
            <a:r>
              <a:rPr lang="fr" sz="900">
                <a:latin typeface="Times New Roman"/>
                <a:ea typeface="Times New Roman"/>
                <a:cs typeface="Times New Roman"/>
                <a:sym typeface="Times New Roman"/>
              </a:rPr>
              <a:t>)</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MiniFS recherche un inode libre</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MiniFS initialise l’inode (type, taille, permissions)</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MiniFS ajoute l’entrée du fichier dans le répertoire parent</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MiniFS valide la création du fichier</a:t>
            </a:r>
            <a:endParaRPr sz="900">
              <a:latin typeface="Times New Roman"/>
              <a:ea typeface="Times New Roman"/>
              <a:cs typeface="Times New Roman"/>
              <a:sym typeface="Times New Roman"/>
            </a:endParaRPr>
          </a:p>
          <a:p>
            <a:pPr indent="-285750" lvl="0" marL="457200" rtl="0" algn="l">
              <a:spcBef>
                <a:spcPts val="0"/>
              </a:spcBef>
              <a:spcAft>
                <a:spcPts val="0"/>
              </a:spcAft>
              <a:buSzPts val="900"/>
              <a:buFont typeface="Arial"/>
              <a:buChar char="●"/>
            </a:pPr>
            <a:r>
              <a:rPr b="1" lang="fr" sz="900">
                <a:latin typeface="Times New Roman"/>
                <a:ea typeface="Times New Roman"/>
                <a:cs typeface="Times New Roman"/>
                <a:sym typeface="Times New Roman"/>
              </a:rPr>
              <a:t>Scénario alternatif</a:t>
            </a:r>
            <a:r>
              <a:rPr lang="fr" sz="900">
                <a:latin typeface="Times New Roman"/>
                <a:ea typeface="Times New Roman"/>
                <a:cs typeface="Times New Roman"/>
                <a:sym typeface="Times New Roman"/>
              </a:rPr>
              <a:t> :</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Aucun inode libre disponible</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Répertoire parent inexistant</a:t>
            </a:r>
            <a:endParaRPr sz="900">
              <a:latin typeface="Times New Roman"/>
              <a:ea typeface="Times New Roman"/>
              <a:cs typeface="Times New Roman"/>
              <a:sym typeface="Times New Roman"/>
            </a:endParaRPr>
          </a:p>
          <a:p>
            <a:pPr indent="-285750" lvl="1" marL="914400" rtl="0" algn="l">
              <a:spcBef>
                <a:spcPts val="0"/>
              </a:spcBef>
              <a:spcAft>
                <a:spcPts val="0"/>
              </a:spcAft>
              <a:buSzPts val="900"/>
              <a:buFont typeface="Times New Roman"/>
              <a:buChar char="○"/>
            </a:pPr>
            <a:r>
              <a:rPr lang="fr" sz="900">
                <a:latin typeface="Times New Roman"/>
                <a:ea typeface="Times New Roman"/>
                <a:cs typeface="Times New Roman"/>
                <a:sym typeface="Times New Roman"/>
              </a:rPr>
              <a:t>Erreur d’accès au disque</a:t>
            </a:r>
            <a:endParaRPr b="1" sz="9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90325" y="142050"/>
            <a:ext cx="8520600" cy="6132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300"/>
              </a:spcBef>
              <a:spcAft>
                <a:spcPts val="0"/>
              </a:spcAft>
              <a:buNone/>
            </a:pPr>
            <a:r>
              <a:rPr lang="fr" sz="1200">
                <a:uFill>
                  <a:noFill/>
                </a:uFill>
                <a:latin typeface="Merriweather"/>
                <a:ea typeface="Merriweather"/>
                <a:cs typeface="Merriweather"/>
                <a:sym typeface="Merriweather"/>
                <a:hlinkClick r:id="rId3"/>
              </a:rPr>
              <a:t>C. CAS D’UTILISATIONS PROPREMENT DIT	</a:t>
            </a:r>
            <a:endParaRPr/>
          </a:p>
        </p:txBody>
      </p:sp>
      <p:sp>
        <p:nvSpPr>
          <p:cNvPr id="124" name="Google Shape;124;p23"/>
          <p:cNvSpPr txBox="1"/>
          <p:nvPr>
            <p:ph idx="1" type="body"/>
          </p:nvPr>
        </p:nvSpPr>
        <p:spPr>
          <a:xfrm>
            <a:off x="482025" y="375350"/>
            <a:ext cx="8520600" cy="3397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fr" sz="1000">
                <a:latin typeface="Arial"/>
                <a:ea typeface="Arial"/>
                <a:cs typeface="Arial"/>
                <a:sym typeface="Arial"/>
              </a:rPr>
              <a:t>Cas d’utilisation 2 : Écriture dans un fichier</a:t>
            </a:r>
            <a:endParaRPr b="1" sz="1000">
              <a:latin typeface="Arial"/>
              <a:ea typeface="Arial"/>
              <a:cs typeface="Arial"/>
              <a:sym typeface="Arial"/>
            </a:endParaRPr>
          </a:p>
          <a:p>
            <a:pPr indent="-292100" lvl="0" marL="457200" rtl="0" algn="l">
              <a:spcBef>
                <a:spcPts val="1200"/>
              </a:spcBef>
              <a:spcAft>
                <a:spcPts val="0"/>
              </a:spcAft>
              <a:buSzPts val="1000"/>
              <a:buFont typeface="Arial"/>
              <a:buChar char="●"/>
            </a:pPr>
            <a:r>
              <a:rPr b="1" lang="fr" sz="1000">
                <a:latin typeface="Arial"/>
                <a:ea typeface="Arial"/>
                <a:cs typeface="Arial"/>
                <a:sym typeface="Arial"/>
              </a:rPr>
              <a:t>Intitulé</a:t>
            </a:r>
            <a:r>
              <a:rPr lang="fr" sz="1000">
                <a:latin typeface="Arial"/>
                <a:ea typeface="Arial"/>
                <a:cs typeface="Arial"/>
                <a:sym typeface="Arial"/>
              </a:rPr>
              <a:t> : Écrire dans un fichier</a:t>
            </a: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b="1" lang="fr" sz="1000">
                <a:latin typeface="Times New Roman"/>
                <a:ea typeface="Times New Roman"/>
                <a:cs typeface="Times New Roman"/>
                <a:sym typeface="Times New Roman"/>
              </a:rPr>
              <a:t>Objectif</a:t>
            </a:r>
            <a:r>
              <a:rPr lang="fr" sz="1000">
                <a:latin typeface="Times New Roman"/>
                <a:ea typeface="Times New Roman"/>
                <a:cs typeface="Times New Roman"/>
                <a:sym typeface="Times New Roman"/>
              </a:rPr>
              <a:t> : Stocker des données dans un fichier existant</a:t>
            </a:r>
            <a:endParaRPr sz="1000">
              <a:latin typeface="Times New Roman"/>
              <a:ea typeface="Times New Roman"/>
              <a:cs typeface="Times New Roman"/>
              <a:sym typeface="Times New Roman"/>
            </a:endParaRPr>
          </a:p>
          <a:p>
            <a:pPr indent="-292100" lvl="0" marL="457200" rtl="0" algn="l">
              <a:spcBef>
                <a:spcPts val="0"/>
              </a:spcBef>
              <a:spcAft>
                <a:spcPts val="0"/>
              </a:spcAft>
              <a:buSzPts val="1000"/>
              <a:buFont typeface="Arial"/>
              <a:buChar char="●"/>
            </a:pPr>
            <a:r>
              <a:rPr b="1" lang="fr" sz="1000">
                <a:latin typeface="Times New Roman"/>
                <a:ea typeface="Times New Roman"/>
                <a:cs typeface="Times New Roman"/>
                <a:sym typeface="Times New Roman"/>
              </a:rPr>
              <a:t>Résumé</a:t>
            </a:r>
            <a:r>
              <a:rPr lang="fr" sz="1000">
                <a:latin typeface="Times New Roman"/>
                <a:ea typeface="Times New Roman"/>
                <a:cs typeface="Times New Roman"/>
                <a:sym typeface="Times New Roman"/>
              </a:rPr>
              <a:t> : MiniFS alloue les blocs nécessaires et écrit les données suite à une requête du VFS.</a:t>
            </a:r>
            <a:endParaRPr sz="1000">
              <a:latin typeface="Times New Roman"/>
              <a:ea typeface="Times New Roman"/>
              <a:cs typeface="Times New Roman"/>
              <a:sym typeface="Times New Roman"/>
            </a:endParaRPr>
          </a:p>
          <a:p>
            <a:pPr indent="-292100" lvl="0" marL="457200" rtl="0" algn="l">
              <a:spcBef>
                <a:spcPts val="0"/>
              </a:spcBef>
              <a:spcAft>
                <a:spcPts val="0"/>
              </a:spcAft>
              <a:buSzPts val="1000"/>
              <a:buFont typeface="Arial"/>
              <a:buChar char="●"/>
            </a:pPr>
            <a:r>
              <a:rPr b="1" lang="fr" sz="1000">
                <a:latin typeface="Times New Roman"/>
                <a:ea typeface="Times New Roman"/>
                <a:cs typeface="Times New Roman"/>
                <a:sym typeface="Times New Roman"/>
              </a:rPr>
              <a:t>Acteurs</a:t>
            </a:r>
            <a:r>
              <a:rPr lang="f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b="1" lang="fr" sz="1000">
                <a:latin typeface="Times New Roman"/>
                <a:ea typeface="Times New Roman"/>
                <a:cs typeface="Times New Roman"/>
                <a:sym typeface="Times New Roman"/>
              </a:rPr>
              <a:t>Noyau Linux / VFS</a:t>
            </a:r>
            <a:endParaRPr b="1"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b="1" lang="fr" sz="1000">
                <a:latin typeface="Times New Roman"/>
                <a:ea typeface="Times New Roman"/>
                <a:cs typeface="Times New Roman"/>
                <a:sym typeface="Times New Roman"/>
              </a:rPr>
              <a:t>MiniFS</a:t>
            </a:r>
            <a:endParaRPr b="1" sz="1000">
              <a:latin typeface="Times New Roman"/>
              <a:ea typeface="Times New Roman"/>
              <a:cs typeface="Times New Roman"/>
              <a:sym typeface="Times New Roman"/>
            </a:endParaRPr>
          </a:p>
          <a:p>
            <a:pPr indent="-292100" lvl="0" marL="457200" rtl="0" algn="l">
              <a:spcBef>
                <a:spcPts val="0"/>
              </a:spcBef>
              <a:spcAft>
                <a:spcPts val="0"/>
              </a:spcAft>
              <a:buSzPts val="1000"/>
              <a:buFont typeface="Arial"/>
              <a:buChar char="●"/>
            </a:pPr>
            <a:r>
              <a:rPr b="1" lang="fr" sz="1000">
                <a:latin typeface="Times New Roman"/>
                <a:ea typeface="Times New Roman"/>
                <a:cs typeface="Times New Roman"/>
                <a:sym typeface="Times New Roman"/>
              </a:rPr>
              <a:t>Préconditions</a:t>
            </a:r>
            <a:r>
              <a:rPr lang="f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Le système MiniFS est monté</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Le fichier existe</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Des blocs de données libres sont disponibles</a:t>
            </a:r>
            <a:endParaRPr sz="1000">
              <a:latin typeface="Times New Roman"/>
              <a:ea typeface="Times New Roman"/>
              <a:cs typeface="Times New Roman"/>
              <a:sym typeface="Times New Roman"/>
            </a:endParaRPr>
          </a:p>
          <a:p>
            <a:pPr indent="-292100" lvl="0" marL="457200" rtl="0" algn="l">
              <a:spcBef>
                <a:spcPts val="0"/>
              </a:spcBef>
              <a:spcAft>
                <a:spcPts val="0"/>
              </a:spcAft>
              <a:buSzPts val="1000"/>
              <a:buFont typeface="Arial"/>
              <a:buChar char="●"/>
            </a:pPr>
            <a:r>
              <a:rPr b="1" lang="fr" sz="1000">
                <a:latin typeface="Times New Roman"/>
                <a:ea typeface="Times New Roman"/>
                <a:cs typeface="Times New Roman"/>
                <a:sym typeface="Times New Roman"/>
              </a:rPr>
              <a:t>Postconditions</a:t>
            </a:r>
            <a:r>
              <a:rPr lang="f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Les données sont écrites sur le support</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Les blocs alloués sont mis à jour dans l’inode</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La taille du fichier est mise à jour</a:t>
            </a:r>
            <a:endParaRPr sz="1000">
              <a:latin typeface="Times New Roman"/>
              <a:ea typeface="Times New Roman"/>
              <a:cs typeface="Times New Roman"/>
              <a:sym typeface="Times New Roman"/>
            </a:endParaRPr>
          </a:p>
          <a:p>
            <a:pPr indent="-292100" lvl="0" marL="457200" rtl="0" algn="l">
              <a:spcBef>
                <a:spcPts val="0"/>
              </a:spcBef>
              <a:spcAft>
                <a:spcPts val="0"/>
              </a:spcAft>
              <a:buSzPts val="1000"/>
              <a:buFont typeface="Arial"/>
              <a:buChar char="●"/>
            </a:pPr>
            <a:r>
              <a:rPr b="1" lang="fr" sz="1000">
                <a:latin typeface="Times New Roman"/>
                <a:ea typeface="Times New Roman"/>
                <a:cs typeface="Times New Roman"/>
                <a:sym typeface="Times New Roman"/>
              </a:rPr>
              <a:t>Scénario nominal</a:t>
            </a:r>
            <a:r>
              <a:rPr lang="f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Arial"/>
              <a:buChar char="○"/>
            </a:pPr>
            <a:r>
              <a:rPr lang="fr" sz="1000">
                <a:latin typeface="Times New Roman"/>
                <a:ea typeface="Times New Roman"/>
                <a:cs typeface="Times New Roman"/>
                <a:sym typeface="Times New Roman"/>
              </a:rPr>
              <a:t>Le VFS invoque l’opération d’écriture (</a:t>
            </a:r>
            <a:r>
              <a:rPr lang="fr" sz="1000">
                <a:solidFill>
                  <a:srgbClr val="188038"/>
                </a:solidFill>
                <a:latin typeface="Times New Roman"/>
                <a:ea typeface="Times New Roman"/>
                <a:cs typeface="Times New Roman"/>
                <a:sym typeface="Times New Roman"/>
              </a:rPr>
              <a:t>write</a:t>
            </a:r>
            <a:r>
              <a:rPr lang="fr"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MiniFS calcule le nombre de blocs nécessaires</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MiniFS alloue les blocs libres</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MiniFS écrit les données dans les blocs</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MiniFS met à jour l’inode du fichier</a:t>
            </a:r>
            <a:endParaRPr sz="1000">
              <a:latin typeface="Times New Roman"/>
              <a:ea typeface="Times New Roman"/>
              <a:cs typeface="Times New Roman"/>
              <a:sym typeface="Times New Roman"/>
            </a:endParaRPr>
          </a:p>
          <a:p>
            <a:pPr indent="-292100" lvl="0" marL="457200" rtl="0" algn="l">
              <a:spcBef>
                <a:spcPts val="0"/>
              </a:spcBef>
              <a:spcAft>
                <a:spcPts val="0"/>
              </a:spcAft>
              <a:buSzPts val="1000"/>
              <a:buFont typeface="Arial"/>
              <a:buChar char="●"/>
            </a:pPr>
            <a:r>
              <a:rPr b="1" lang="fr" sz="1000">
                <a:latin typeface="Times New Roman"/>
                <a:ea typeface="Times New Roman"/>
                <a:cs typeface="Times New Roman"/>
                <a:sym typeface="Times New Roman"/>
              </a:rPr>
              <a:t>Scénario alternatif</a:t>
            </a:r>
            <a:r>
              <a:rPr lang="fr"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Espace disque insuffisant</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Erreur d’écriture disque</a:t>
            </a:r>
            <a:endParaRPr sz="1000">
              <a:latin typeface="Times New Roman"/>
              <a:ea typeface="Times New Roman"/>
              <a:cs typeface="Times New Roman"/>
              <a:sym typeface="Times New Roman"/>
            </a:endParaRPr>
          </a:p>
          <a:p>
            <a:pPr indent="-292100" lvl="1" marL="914400" rtl="0" algn="l">
              <a:spcBef>
                <a:spcPts val="0"/>
              </a:spcBef>
              <a:spcAft>
                <a:spcPts val="0"/>
              </a:spcAft>
              <a:buSzPts val="1000"/>
              <a:buFont typeface="Times New Roman"/>
              <a:buChar char="○"/>
            </a:pPr>
            <a:r>
              <a:rPr lang="fr" sz="1000">
                <a:latin typeface="Times New Roman"/>
                <a:ea typeface="Times New Roman"/>
                <a:cs typeface="Times New Roman"/>
                <a:sym typeface="Times New Roman"/>
              </a:rPr>
              <a:t>Blocs corrompus</a:t>
            </a:r>
            <a:endParaRPr b="1" sz="10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300"/>
              </a:spcBef>
              <a:spcAft>
                <a:spcPts val="0"/>
              </a:spcAft>
              <a:buNone/>
            </a:pPr>
            <a:r>
              <a:rPr lang="fr" sz="1200">
                <a:uFill>
                  <a:noFill/>
                </a:uFill>
                <a:latin typeface="Merriweather"/>
                <a:ea typeface="Merriweather"/>
                <a:cs typeface="Merriweather"/>
                <a:sym typeface="Merriweather"/>
                <a:hlinkClick r:id="rId3"/>
              </a:rPr>
              <a:t>C. CAS D’UTILISATIONS PROPREMENT DIT	</a:t>
            </a:r>
            <a:endParaRPr/>
          </a:p>
        </p:txBody>
      </p:sp>
      <p:sp>
        <p:nvSpPr>
          <p:cNvPr id="130" name="Google Shape;130;p24"/>
          <p:cNvSpPr txBox="1"/>
          <p:nvPr>
            <p:ph idx="1" type="body"/>
          </p:nvPr>
        </p:nvSpPr>
        <p:spPr>
          <a:xfrm>
            <a:off x="311700" y="788925"/>
            <a:ext cx="8520600" cy="41922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rPr b="1" lang="fr" sz="1300">
                <a:latin typeface="Arial"/>
                <a:ea typeface="Arial"/>
                <a:cs typeface="Arial"/>
                <a:sym typeface="Arial"/>
              </a:rPr>
              <a:t>Cas d’utilisation 3 : Lecture d’un fichier</a:t>
            </a:r>
            <a:endParaRPr b="1" sz="1300">
              <a:latin typeface="Arial"/>
              <a:ea typeface="Arial"/>
              <a:cs typeface="Arial"/>
              <a:sym typeface="Arial"/>
            </a:endParaRPr>
          </a:p>
          <a:p>
            <a:pPr indent="-298450" lvl="0" marL="457200" rtl="0" algn="l">
              <a:spcBef>
                <a:spcPts val="1200"/>
              </a:spcBef>
              <a:spcAft>
                <a:spcPts val="0"/>
              </a:spcAft>
              <a:buSzPts val="1100"/>
              <a:buFont typeface="Arial"/>
              <a:buChar char="●"/>
            </a:pPr>
            <a:r>
              <a:rPr b="1" lang="fr" sz="1100">
                <a:latin typeface="Times New Roman"/>
                <a:ea typeface="Times New Roman"/>
                <a:cs typeface="Times New Roman"/>
                <a:sym typeface="Times New Roman"/>
              </a:rPr>
              <a:t>Intitulé</a:t>
            </a:r>
            <a:r>
              <a:rPr lang="fr" sz="1100">
                <a:latin typeface="Times New Roman"/>
                <a:ea typeface="Times New Roman"/>
                <a:cs typeface="Times New Roman"/>
                <a:sym typeface="Times New Roman"/>
              </a:rPr>
              <a:t> : Lecture d’un fichier</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Objectif</a:t>
            </a:r>
            <a:r>
              <a:rPr lang="fr" sz="1100">
                <a:latin typeface="Times New Roman"/>
                <a:ea typeface="Times New Roman"/>
                <a:cs typeface="Times New Roman"/>
                <a:sym typeface="Times New Roman"/>
              </a:rPr>
              <a:t> : Fournir le contenu d’un fichier au système appelant</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Résumé</a:t>
            </a:r>
            <a:r>
              <a:rPr lang="fr" sz="1100">
                <a:latin typeface="Times New Roman"/>
                <a:ea typeface="Times New Roman"/>
                <a:cs typeface="Times New Roman"/>
                <a:sym typeface="Times New Roman"/>
              </a:rPr>
              <a:t> : MiniFS lit les blocs associés à un inode et transmet les données au VFS.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Acteurs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b="1" lang="fr" sz="1100">
                <a:latin typeface="Times New Roman"/>
                <a:ea typeface="Times New Roman"/>
                <a:cs typeface="Times New Roman"/>
                <a:sym typeface="Times New Roman"/>
              </a:rPr>
              <a:t>Noyau Linux / VFS</a:t>
            </a:r>
            <a:endParaRPr b="1"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b="1" lang="fr" sz="1100">
                <a:latin typeface="Times New Roman"/>
                <a:ea typeface="Times New Roman"/>
                <a:cs typeface="Times New Roman"/>
                <a:sym typeface="Times New Roman"/>
              </a:rPr>
              <a:t>MiniFS</a:t>
            </a:r>
            <a:endParaRPr b="1"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Préconditions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 système MiniFS est monté</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 fichier existe</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Postconditions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Les données sont transmises au VFS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Aucun changement de données n’est effectué</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nominal</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lang="fr" sz="1100">
                <a:latin typeface="Times New Roman"/>
                <a:ea typeface="Times New Roman"/>
                <a:cs typeface="Times New Roman"/>
                <a:sym typeface="Times New Roman"/>
              </a:rPr>
              <a:t>Le VFS invoque l’opération de lecture (</a:t>
            </a:r>
            <a:r>
              <a:rPr lang="fr" sz="1100">
                <a:solidFill>
                  <a:srgbClr val="188038"/>
                </a:solidFill>
                <a:latin typeface="Times New Roman"/>
                <a:ea typeface="Times New Roman"/>
                <a:cs typeface="Times New Roman"/>
                <a:sym typeface="Times New Roman"/>
              </a:rPr>
              <a:t>read</a:t>
            </a:r>
            <a:r>
              <a:rPr lang="fr"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localise l’inode du fichier</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identifie les blocs de données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lit les blocs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retourne les données au VFS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alternatif</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Fichier inexistant</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Erreur de lecture disque</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Inode corrompu</a:t>
            </a:r>
            <a:endParaRPr b="1" sz="11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300"/>
              </a:spcBef>
              <a:spcAft>
                <a:spcPts val="0"/>
              </a:spcAft>
              <a:buNone/>
            </a:pPr>
            <a:r>
              <a:rPr lang="fr" sz="1200">
                <a:uFill>
                  <a:noFill/>
                </a:uFill>
                <a:latin typeface="Merriweather"/>
                <a:ea typeface="Merriweather"/>
                <a:cs typeface="Merriweather"/>
                <a:sym typeface="Merriweather"/>
                <a:hlinkClick r:id="rId3"/>
              </a:rPr>
              <a:t>C. CAS D’UTILISATIONS PROPREMENT DIT	</a:t>
            </a:r>
            <a:endParaRPr/>
          </a:p>
        </p:txBody>
      </p:sp>
      <p:sp>
        <p:nvSpPr>
          <p:cNvPr id="136" name="Google Shape;136;p25"/>
          <p:cNvSpPr txBox="1"/>
          <p:nvPr>
            <p:ph idx="1" type="body"/>
          </p:nvPr>
        </p:nvSpPr>
        <p:spPr>
          <a:xfrm>
            <a:off x="311700" y="815125"/>
            <a:ext cx="8520600" cy="41919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None/>
            </a:pPr>
            <a:r>
              <a:rPr b="1" lang="fr" sz="1700">
                <a:latin typeface="Times New Roman"/>
                <a:ea typeface="Times New Roman"/>
                <a:cs typeface="Times New Roman"/>
                <a:sym typeface="Times New Roman"/>
              </a:rPr>
              <a:t>Cas d’utilisation 4 : Détection de fragmentation</a:t>
            </a:r>
            <a:endParaRPr b="1" sz="1100">
              <a:latin typeface="Times New Roman"/>
              <a:ea typeface="Times New Roman"/>
              <a:cs typeface="Times New Roman"/>
              <a:sym typeface="Times New Roman"/>
            </a:endParaRPr>
          </a:p>
          <a:p>
            <a:pPr indent="-298450" lvl="1" marL="914400" rtl="0" algn="l">
              <a:spcBef>
                <a:spcPts val="1200"/>
              </a:spcBef>
              <a:spcAft>
                <a:spcPts val="0"/>
              </a:spcAft>
              <a:buSzPts val="1100"/>
              <a:buFont typeface="Arial"/>
              <a:buChar char="○"/>
            </a:pPr>
            <a:r>
              <a:rPr b="1" lang="fr" sz="1100">
                <a:latin typeface="Times New Roman"/>
                <a:ea typeface="Times New Roman"/>
                <a:cs typeface="Times New Roman"/>
                <a:sym typeface="Times New Roman"/>
              </a:rPr>
              <a:t>Intitulé</a:t>
            </a:r>
            <a:r>
              <a:rPr lang="fr" sz="1100">
                <a:latin typeface="Times New Roman"/>
                <a:ea typeface="Times New Roman"/>
                <a:cs typeface="Times New Roman"/>
                <a:sym typeface="Times New Roman"/>
              </a:rPr>
              <a:t> : Détection de la fragmentation des fichiers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b="1" lang="fr" sz="1100">
                <a:latin typeface="Times New Roman"/>
                <a:ea typeface="Times New Roman"/>
                <a:cs typeface="Times New Roman"/>
                <a:sym typeface="Times New Roman"/>
              </a:rPr>
              <a:t>Objectif</a:t>
            </a:r>
            <a:r>
              <a:rPr lang="fr" sz="1100">
                <a:latin typeface="Times New Roman"/>
                <a:ea typeface="Times New Roman"/>
                <a:cs typeface="Times New Roman"/>
                <a:sym typeface="Times New Roman"/>
              </a:rPr>
              <a:t> : Identifier le niveau de fragmentation des fichiers stockés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b="1" lang="fr" sz="1100">
                <a:latin typeface="Times New Roman"/>
                <a:ea typeface="Times New Roman"/>
                <a:cs typeface="Times New Roman"/>
                <a:sym typeface="Times New Roman"/>
              </a:rPr>
              <a:t>Résumé</a:t>
            </a:r>
            <a:r>
              <a:rPr lang="fr" sz="1100">
                <a:latin typeface="Times New Roman"/>
                <a:ea typeface="Times New Roman"/>
                <a:cs typeface="Times New Roman"/>
                <a:sym typeface="Times New Roman"/>
              </a:rPr>
              <a:t> : MiniFS analyse la continuité des blocs alloués aux fichiers afin d’évaluer leur fragmentation.</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b="1" lang="fr" sz="1100">
                <a:latin typeface="Times New Roman"/>
                <a:ea typeface="Times New Roman"/>
                <a:cs typeface="Times New Roman"/>
                <a:sym typeface="Times New Roman"/>
              </a:rPr>
              <a:t>Acteurs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b="1" lang="fr" sz="1100">
                <a:latin typeface="Times New Roman"/>
                <a:ea typeface="Times New Roman"/>
                <a:cs typeface="Times New Roman"/>
                <a:sym typeface="Times New Roman"/>
              </a:rPr>
              <a:t>MiniFS</a:t>
            </a:r>
            <a:endParaRPr b="1" sz="1100">
              <a:latin typeface="Times New Roman"/>
              <a:ea typeface="Times New Roman"/>
              <a:cs typeface="Times New Roman"/>
              <a:sym typeface="Times New Roman"/>
            </a:endParaRPr>
          </a:p>
          <a:p>
            <a:pPr indent="-298450" lvl="2" marL="1371600" rtl="0" algn="l">
              <a:spcBef>
                <a:spcPts val="0"/>
              </a:spcBef>
              <a:spcAft>
                <a:spcPts val="0"/>
              </a:spcAft>
              <a:buSzPts val="1100"/>
              <a:buFont typeface="Arial"/>
              <a:buChar char="■"/>
            </a:pPr>
            <a:r>
              <a:rPr b="1" lang="fr" sz="1100">
                <a:latin typeface="Times New Roman"/>
                <a:ea typeface="Times New Roman"/>
                <a:cs typeface="Times New Roman"/>
                <a:sym typeface="Times New Roman"/>
              </a:rPr>
              <a:t>Outil système d’analyse</a:t>
            </a:r>
            <a:r>
              <a:rPr lang="fr" sz="1100">
                <a:latin typeface="Times New Roman"/>
                <a:ea typeface="Times New Roman"/>
                <a:cs typeface="Times New Roman"/>
                <a:sym typeface="Times New Roman"/>
              </a:rPr>
              <a:t> (ex. </a:t>
            </a:r>
            <a:r>
              <a:rPr lang="fr" sz="1100">
                <a:solidFill>
                  <a:srgbClr val="188038"/>
                </a:solidFill>
                <a:latin typeface="Times New Roman"/>
                <a:ea typeface="Times New Roman"/>
                <a:cs typeface="Times New Roman"/>
                <a:sym typeface="Times New Roman"/>
              </a:rPr>
              <a:t>fsck-mini</a:t>
            </a:r>
            <a:r>
              <a:rPr lang="fr" sz="1100">
                <a:latin typeface="Times New Roman"/>
                <a:ea typeface="Times New Roman"/>
                <a:cs typeface="Times New Roman"/>
                <a:sym typeface="Times New Roman"/>
              </a:rPr>
              <a:t>, outil d’administration)</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b="1" lang="fr" sz="1100">
                <a:latin typeface="Times New Roman"/>
                <a:ea typeface="Times New Roman"/>
                <a:cs typeface="Times New Roman"/>
                <a:sym typeface="Times New Roman"/>
              </a:rPr>
              <a:t>Préconditions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 système MiniFS est monté ou accessible en lecture</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Les structures internes sont cohérentes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b="1" lang="fr" sz="1100">
                <a:latin typeface="Times New Roman"/>
                <a:ea typeface="Times New Roman"/>
                <a:cs typeface="Times New Roman"/>
                <a:sym typeface="Times New Roman"/>
              </a:rPr>
              <a:t>Postconditions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Un indicateur de fragmentation est produit</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Les fichiers fragmentés sont identifiés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nominal</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L’outil d’analyse déclenche l’analyse de fragmentation</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parcourt la table des inodes</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analyse la continuité des blocs de chaque fichier</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calcule le nombre d’extents par fichier</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génère un rapport de fragmentation</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alternatif</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Inodes corrompus</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Accès disque impossible</a:t>
            </a:r>
            <a:endParaRPr sz="1100">
              <a:latin typeface="Times New Roman"/>
              <a:ea typeface="Times New Roman"/>
              <a:cs typeface="Times New Roman"/>
              <a:sym typeface="Times New Roman"/>
            </a:endParaRPr>
          </a:p>
          <a:p>
            <a:pPr indent="-298450" lvl="2" marL="13716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Interruption de l’analyse</a:t>
            </a:r>
            <a:endParaRPr b="1" sz="13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300"/>
              </a:spcBef>
              <a:spcAft>
                <a:spcPts val="0"/>
              </a:spcAft>
              <a:buNone/>
            </a:pPr>
            <a:r>
              <a:rPr lang="fr" sz="1200">
                <a:uFill>
                  <a:noFill/>
                </a:uFill>
                <a:latin typeface="Merriweather"/>
                <a:ea typeface="Merriweather"/>
                <a:cs typeface="Merriweather"/>
                <a:sym typeface="Merriweather"/>
                <a:hlinkClick r:id="rId3"/>
              </a:rPr>
              <a:t>C. CAS D’UTILISATIONS PROPREMENT DIT	</a:t>
            </a:r>
            <a:endParaRPr/>
          </a:p>
        </p:txBody>
      </p:sp>
      <p:sp>
        <p:nvSpPr>
          <p:cNvPr id="142" name="Google Shape;142;p26"/>
          <p:cNvSpPr txBox="1"/>
          <p:nvPr>
            <p:ph idx="1" type="body"/>
          </p:nvPr>
        </p:nvSpPr>
        <p:spPr>
          <a:xfrm>
            <a:off x="311700" y="815125"/>
            <a:ext cx="8520600" cy="4100400"/>
          </a:xfrm>
          <a:prstGeom prst="rect">
            <a:avLst/>
          </a:prstGeom>
        </p:spPr>
        <p:txBody>
          <a:bodyPr anchorCtr="0" anchor="t" bIns="91425" lIns="91425" spcFirstLastPara="1" rIns="91425" wrap="square" tIns="91425">
            <a:normAutofit fontScale="92500" lnSpcReduction="20000"/>
          </a:bodyPr>
          <a:lstStyle/>
          <a:p>
            <a:pPr indent="0" lvl="0" marL="0" rtl="0" algn="l">
              <a:spcBef>
                <a:spcPts val="1800"/>
              </a:spcBef>
              <a:spcAft>
                <a:spcPts val="0"/>
              </a:spcAft>
              <a:buNone/>
            </a:pPr>
            <a:r>
              <a:rPr b="1" lang="fr" sz="1700">
                <a:latin typeface="Arial"/>
                <a:ea typeface="Arial"/>
                <a:cs typeface="Arial"/>
                <a:sym typeface="Arial"/>
              </a:rPr>
              <a:t>Cas d’utilisation 5 : Supprimer un fichier</a:t>
            </a:r>
            <a:endParaRPr b="1" sz="1700">
              <a:latin typeface="Arial"/>
              <a:ea typeface="Arial"/>
              <a:cs typeface="Arial"/>
              <a:sym typeface="Arial"/>
            </a:endParaRPr>
          </a:p>
          <a:p>
            <a:pPr indent="-293211" lvl="0" marL="457200" rtl="0" algn="l">
              <a:spcBef>
                <a:spcPts val="1200"/>
              </a:spcBef>
              <a:spcAft>
                <a:spcPts val="0"/>
              </a:spcAft>
              <a:buSzPct val="100000"/>
              <a:buFont typeface="Arial"/>
              <a:buChar char="●"/>
            </a:pPr>
            <a:r>
              <a:rPr b="1" lang="fr" sz="1100">
                <a:latin typeface="Times New Roman"/>
                <a:ea typeface="Times New Roman"/>
                <a:cs typeface="Times New Roman"/>
                <a:sym typeface="Times New Roman"/>
              </a:rPr>
              <a:t>Intitulé</a:t>
            </a:r>
            <a:r>
              <a:rPr lang="fr" sz="1100">
                <a:latin typeface="Times New Roman"/>
                <a:ea typeface="Times New Roman"/>
                <a:cs typeface="Times New Roman"/>
                <a:sym typeface="Times New Roman"/>
              </a:rPr>
              <a:t> : Suppression d’un fichier</a:t>
            </a:r>
            <a:endParaRPr sz="1100">
              <a:latin typeface="Times New Roman"/>
              <a:ea typeface="Times New Roman"/>
              <a:cs typeface="Times New Roman"/>
              <a:sym typeface="Times New Roman"/>
            </a:endParaRPr>
          </a:p>
          <a:p>
            <a:pPr indent="-293211" lvl="0" marL="457200" rtl="0" algn="l">
              <a:spcBef>
                <a:spcPts val="0"/>
              </a:spcBef>
              <a:spcAft>
                <a:spcPts val="0"/>
              </a:spcAft>
              <a:buSzPct val="100000"/>
              <a:buFont typeface="Arial"/>
              <a:buChar char="●"/>
            </a:pPr>
            <a:r>
              <a:rPr b="1" lang="fr" sz="1100">
                <a:latin typeface="Times New Roman"/>
                <a:ea typeface="Times New Roman"/>
                <a:cs typeface="Times New Roman"/>
                <a:sym typeface="Times New Roman"/>
              </a:rPr>
              <a:t>Objectif</a:t>
            </a:r>
            <a:r>
              <a:rPr lang="fr" sz="1100">
                <a:latin typeface="Times New Roman"/>
                <a:ea typeface="Times New Roman"/>
                <a:cs typeface="Times New Roman"/>
                <a:sym typeface="Times New Roman"/>
              </a:rPr>
              <a:t> : Libérer les ressources associées à un fichier</a:t>
            </a:r>
            <a:endParaRPr sz="1100">
              <a:latin typeface="Times New Roman"/>
              <a:ea typeface="Times New Roman"/>
              <a:cs typeface="Times New Roman"/>
              <a:sym typeface="Times New Roman"/>
            </a:endParaRPr>
          </a:p>
          <a:p>
            <a:pPr indent="-293211" lvl="0" marL="457200" rtl="0" algn="l">
              <a:spcBef>
                <a:spcPts val="0"/>
              </a:spcBef>
              <a:spcAft>
                <a:spcPts val="0"/>
              </a:spcAft>
              <a:buSzPct val="100000"/>
              <a:buFont typeface="Arial"/>
              <a:buChar char="●"/>
            </a:pPr>
            <a:r>
              <a:rPr b="1" lang="fr" sz="1100">
                <a:latin typeface="Times New Roman"/>
                <a:ea typeface="Times New Roman"/>
                <a:cs typeface="Times New Roman"/>
                <a:sym typeface="Times New Roman"/>
              </a:rPr>
              <a:t>Résumé</a:t>
            </a:r>
            <a:r>
              <a:rPr lang="fr" sz="1100">
                <a:latin typeface="Times New Roman"/>
                <a:ea typeface="Times New Roman"/>
                <a:cs typeface="Times New Roman"/>
                <a:sym typeface="Times New Roman"/>
              </a:rPr>
              <a:t> : Le VFS invoque MiniFS pour supprimer un fichier et libérer son inode et ses blocs.</a:t>
            </a:r>
            <a:endParaRPr sz="1100">
              <a:latin typeface="Times New Roman"/>
              <a:ea typeface="Times New Roman"/>
              <a:cs typeface="Times New Roman"/>
              <a:sym typeface="Times New Roman"/>
            </a:endParaRPr>
          </a:p>
          <a:p>
            <a:pPr indent="-293211" lvl="0" marL="457200" rtl="0" algn="l">
              <a:spcBef>
                <a:spcPts val="0"/>
              </a:spcBef>
              <a:spcAft>
                <a:spcPts val="0"/>
              </a:spcAft>
              <a:buSzPct val="100000"/>
              <a:buFont typeface="Arial"/>
              <a:buChar char="●"/>
            </a:pPr>
            <a:r>
              <a:rPr b="1" lang="fr" sz="1100">
                <a:latin typeface="Times New Roman"/>
                <a:ea typeface="Times New Roman"/>
                <a:cs typeface="Times New Roman"/>
                <a:sym typeface="Times New Roman"/>
              </a:rPr>
              <a:t>Acteurs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Noyau Linux / VFS</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MiniFS</a:t>
            </a:r>
            <a:endParaRPr sz="1100">
              <a:latin typeface="Times New Roman"/>
              <a:ea typeface="Times New Roman"/>
              <a:cs typeface="Times New Roman"/>
              <a:sym typeface="Times New Roman"/>
            </a:endParaRPr>
          </a:p>
          <a:p>
            <a:pPr indent="-293211" lvl="0" marL="457200" rtl="0" algn="l">
              <a:spcBef>
                <a:spcPts val="0"/>
              </a:spcBef>
              <a:spcAft>
                <a:spcPts val="0"/>
              </a:spcAft>
              <a:buSzPct val="100000"/>
              <a:buFont typeface="Arial"/>
              <a:buChar char="●"/>
            </a:pPr>
            <a:r>
              <a:rPr b="1" lang="fr" sz="1100">
                <a:latin typeface="Times New Roman"/>
                <a:ea typeface="Times New Roman"/>
                <a:cs typeface="Times New Roman"/>
                <a:sym typeface="Times New Roman"/>
              </a:rPr>
              <a:t>Préconditions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Le système de fichiers est monté</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Le fichier existe</a:t>
            </a:r>
            <a:endParaRPr sz="1100">
              <a:latin typeface="Times New Roman"/>
              <a:ea typeface="Times New Roman"/>
              <a:cs typeface="Times New Roman"/>
              <a:sym typeface="Times New Roman"/>
            </a:endParaRPr>
          </a:p>
          <a:p>
            <a:pPr indent="-293211" lvl="0" marL="457200" rtl="0" algn="l">
              <a:spcBef>
                <a:spcPts val="0"/>
              </a:spcBef>
              <a:spcAft>
                <a:spcPts val="0"/>
              </a:spcAft>
              <a:buSzPct val="100000"/>
              <a:buFont typeface="Arial"/>
              <a:buChar char="●"/>
            </a:pPr>
            <a:r>
              <a:rPr b="1" lang="fr" sz="1100">
                <a:latin typeface="Times New Roman"/>
                <a:ea typeface="Times New Roman"/>
                <a:cs typeface="Times New Roman"/>
                <a:sym typeface="Times New Roman"/>
              </a:rPr>
              <a:t>Postconditions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L’inode est libéré</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Les blocs sont marqués comme libres</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L’entrée du répertoire est supprimée</a:t>
            </a:r>
            <a:endParaRPr sz="1100">
              <a:latin typeface="Times New Roman"/>
              <a:ea typeface="Times New Roman"/>
              <a:cs typeface="Times New Roman"/>
              <a:sym typeface="Times New Roman"/>
            </a:endParaRPr>
          </a:p>
          <a:p>
            <a:pPr indent="-293211" lvl="0" marL="457200" rtl="0" algn="l">
              <a:spcBef>
                <a:spcPts val="0"/>
              </a:spcBef>
              <a:spcAft>
                <a:spcPts val="0"/>
              </a:spcAft>
              <a:buSzPct val="100000"/>
              <a:buFont typeface="Arial"/>
              <a:buChar char="●"/>
            </a:pPr>
            <a:r>
              <a:rPr b="1" lang="fr" sz="1100">
                <a:latin typeface="Times New Roman"/>
                <a:ea typeface="Times New Roman"/>
                <a:cs typeface="Times New Roman"/>
                <a:sym typeface="Times New Roman"/>
              </a:rPr>
              <a:t>Scénario nominal</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Arial"/>
              <a:buChar char="○"/>
            </a:pPr>
            <a:r>
              <a:rPr lang="fr" sz="1100">
                <a:latin typeface="Times New Roman"/>
                <a:ea typeface="Times New Roman"/>
                <a:cs typeface="Times New Roman"/>
                <a:sym typeface="Times New Roman"/>
              </a:rPr>
              <a:t>Le VFS appelle l’opération </a:t>
            </a:r>
            <a:r>
              <a:rPr lang="fr" sz="1100">
                <a:solidFill>
                  <a:srgbClr val="188038"/>
                </a:solidFill>
                <a:latin typeface="Times New Roman"/>
                <a:ea typeface="Times New Roman"/>
                <a:cs typeface="Times New Roman"/>
                <a:sym typeface="Times New Roman"/>
              </a:rPr>
              <a:t>unlink</a:t>
            </a:r>
            <a:endParaRPr sz="1100">
              <a:solidFill>
                <a:srgbClr val="188038"/>
              </a:solidFill>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MiniFS localise l’inode cible</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MiniFS libère les blocs associés</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MiniFS met à jour la table des inodes</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MiniFS met à jour le répertoire parent</a:t>
            </a:r>
            <a:endParaRPr sz="1100">
              <a:latin typeface="Times New Roman"/>
              <a:ea typeface="Times New Roman"/>
              <a:cs typeface="Times New Roman"/>
              <a:sym typeface="Times New Roman"/>
            </a:endParaRPr>
          </a:p>
          <a:p>
            <a:pPr indent="-293211" lvl="0" marL="457200" rtl="0" algn="l">
              <a:spcBef>
                <a:spcPts val="0"/>
              </a:spcBef>
              <a:spcAft>
                <a:spcPts val="0"/>
              </a:spcAft>
              <a:buSzPct val="100000"/>
              <a:buFont typeface="Arial"/>
              <a:buChar char="●"/>
            </a:pPr>
            <a:r>
              <a:rPr b="1" lang="fr" sz="1100">
                <a:latin typeface="Times New Roman"/>
                <a:ea typeface="Times New Roman"/>
                <a:cs typeface="Times New Roman"/>
                <a:sym typeface="Times New Roman"/>
              </a:rPr>
              <a:t>Scénario alternatif</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Inode inexistant</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Blocs corrompus</a:t>
            </a:r>
            <a:endParaRPr sz="1100">
              <a:latin typeface="Times New Roman"/>
              <a:ea typeface="Times New Roman"/>
              <a:cs typeface="Times New Roman"/>
              <a:sym typeface="Times New Roman"/>
            </a:endParaRPr>
          </a:p>
          <a:p>
            <a:pPr indent="-293211" lvl="1" marL="914400" rtl="0" algn="l">
              <a:spcBef>
                <a:spcPts val="0"/>
              </a:spcBef>
              <a:spcAft>
                <a:spcPts val="0"/>
              </a:spcAft>
              <a:buSzPct val="100000"/>
              <a:buFont typeface="Times New Roman"/>
              <a:buChar char="○"/>
            </a:pPr>
            <a:r>
              <a:rPr lang="fr" sz="1100">
                <a:latin typeface="Times New Roman"/>
                <a:ea typeface="Times New Roman"/>
                <a:cs typeface="Times New Roman"/>
                <a:sym typeface="Times New Roman"/>
              </a:rPr>
              <a:t>Erreur d’E/S disque</a:t>
            </a:r>
            <a:endParaRPr b="1" sz="11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300"/>
              </a:spcBef>
              <a:spcAft>
                <a:spcPts val="0"/>
              </a:spcAft>
              <a:buNone/>
            </a:pPr>
            <a:r>
              <a:rPr lang="fr" sz="1200">
                <a:uFill>
                  <a:noFill/>
                </a:uFill>
                <a:latin typeface="Merriweather"/>
                <a:ea typeface="Merriweather"/>
                <a:cs typeface="Merriweather"/>
                <a:sym typeface="Merriweather"/>
                <a:hlinkClick r:id="rId3"/>
              </a:rPr>
              <a:t>C. CAS D’UTILISATIONS PROPREMENT DIT	</a:t>
            </a:r>
            <a:endParaRPr/>
          </a:p>
        </p:txBody>
      </p:sp>
      <p:sp>
        <p:nvSpPr>
          <p:cNvPr id="148" name="Google Shape;148;p27"/>
          <p:cNvSpPr txBox="1"/>
          <p:nvPr>
            <p:ph idx="1" type="body"/>
          </p:nvPr>
        </p:nvSpPr>
        <p:spPr>
          <a:xfrm>
            <a:off x="311700" y="815125"/>
            <a:ext cx="8520600" cy="41004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Clr>
                <a:schemeClr val="dk1"/>
              </a:buClr>
              <a:buSzPts val="1100"/>
              <a:buFont typeface="Arial"/>
              <a:buNone/>
            </a:pPr>
            <a:r>
              <a:rPr b="1" lang="fr" sz="1700">
                <a:latin typeface="Arial"/>
                <a:ea typeface="Arial"/>
                <a:cs typeface="Arial"/>
                <a:sym typeface="Arial"/>
              </a:rPr>
              <a:t>Cas d’utilisation 6 : Créer un répertoire</a:t>
            </a:r>
            <a:endParaRPr b="1" sz="1700">
              <a:latin typeface="Arial"/>
              <a:ea typeface="Arial"/>
              <a:cs typeface="Arial"/>
              <a:sym typeface="Arial"/>
            </a:endParaRPr>
          </a:p>
          <a:p>
            <a:pPr indent="-298450" lvl="0" marL="457200" rtl="0" algn="l">
              <a:spcBef>
                <a:spcPts val="1200"/>
              </a:spcBef>
              <a:spcAft>
                <a:spcPts val="0"/>
              </a:spcAft>
              <a:buSzPts val="1100"/>
              <a:buFont typeface="Arial"/>
              <a:buChar char="●"/>
            </a:pPr>
            <a:r>
              <a:rPr b="1" lang="fr" sz="1100">
                <a:latin typeface="Times New Roman"/>
                <a:ea typeface="Times New Roman"/>
                <a:cs typeface="Times New Roman"/>
                <a:sym typeface="Times New Roman"/>
              </a:rPr>
              <a:t>Intitulé</a:t>
            </a:r>
            <a:r>
              <a:rPr lang="fr" sz="1100">
                <a:latin typeface="Times New Roman"/>
                <a:ea typeface="Times New Roman"/>
                <a:cs typeface="Times New Roman"/>
                <a:sym typeface="Times New Roman"/>
              </a:rPr>
              <a:t> : Création d’un répertoire</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Objectif</a:t>
            </a:r>
            <a:r>
              <a:rPr lang="fr" sz="1100">
                <a:latin typeface="Times New Roman"/>
                <a:ea typeface="Times New Roman"/>
                <a:cs typeface="Times New Roman"/>
                <a:sym typeface="Times New Roman"/>
              </a:rPr>
              <a:t> : Créer une nouvelle structure de répertoire</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Résumé</a:t>
            </a:r>
            <a:r>
              <a:rPr lang="fr" sz="1100">
                <a:latin typeface="Times New Roman"/>
                <a:ea typeface="Times New Roman"/>
                <a:cs typeface="Times New Roman"/>
                <a:sym typeface="Times New Roman"/>
              </a:rPr>
              <a:t> : MiniFS crée un inode de type répertoire suite à une requête du VFS.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Acteurs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Noyau Linux / VFS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Préconditions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 système de fichiers est monté</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 répertoire parent existe</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Postconditions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 répertoire est créé</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Les entrées « . » et « .. » sont initialisées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nominal</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lang="fr" sz="1100">
                <a:latin typeface="Times New Roman"/>
                <a:ea typeface="Times New Roman"/>
                <a:cs typeface="Times New Roman"/>
                <a:sym typeface="Times New Roman"/>
              </a:rPr>
              <a:t>Le VFS appelle l’opération </a:t>
            </a:r>
            <a:r>
              <a:rPr lang="fr" sz="1100">
                <a:solidFill>
                  <a:srgbClr val="188038"/>
                </a:solidFill>
                <a:latin typeface="Times New Roman"/>
                <a:ea typeface="Times New Roman"/>
                <a:cs typeface="Times New Roman"/>
                <a:sym typeface="Times New Roman"/>
              </a:rPr>
              <a:t>mkdir</a:t>
            </a:r>
            <a:endParaRPr sz="1100">
              <a:solidFill>
                <a:srgbClr val="188038"/>
              </a:solidFill>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alloue un inode de type répertoire</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alloue un bloc pour les entrées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met à jour le répertoire parent</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alternatif</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Aucun inode libre</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Espace disque insuffisant</a:t>
            </a:r>
            <a:endParaRPr b="1" sz="11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300"/>
              </a:spcBef>
              <a:spcAft>
                <a:spcPts val="0"/>
              </a:spcAft>
              <a:buNone/>
            </a:pPr>
            <a:r>
              <a:rPr lang="fr" sz="1200">
                <a:uFill>
                  <a:noFill/>
                </a:uFill>
                <a:latin typeface="Merriweather"/>
                <a:ea typeface="Merriweather"/>
                <a:cs typeface="Merriweather"/>
                <a:sym typeface="Merriweather"/>
                <a:hlinkClick r:id="rId3"/>
              </a:rPr>
              <a:t>C. CAS D’UTILISATIONS PROPREMENT DIT	</a:t>
            </a:r>
            <a:endParaRPr/>
          </a:p>
        </p:txBody>
      </p:sp>
      <p:sp>
        <p:nvSpPr>
          <p:cNvPr id="154" name="Google Shape;154;p28"/>
          <p:cNvSpPr txBox="1"/>
          <p:nvPr>
            <p:ph idx="1" type="body"/>
          </p:nvPr>
        </p:nvSpPr>
        <p:spPr>
          <a:xfrm>
            <a:off x="311700" y="802025"/>
            <a:ext cx="8520600" cy="41136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fr" sz="1700">
                <a:latin typeface="Arial"/>
                <a:ea typeface="Arial"/>
                <a:cs typeface="Arial"/>
                <a:sym typeface="Arial"/>
              </a:rPr>
              <a:t>Cas d’utilisation 7 : Lister le contenu d’un répertoire</a:t>
            </a:r>
            <a:endParaRPr b="1" sz="1700">
              <a:latin typeface="Arial"/>
              <a:ea typeface="Arial"/>
              <a:cs typeface="Arial"/>
              <a:sym typeface="Arial"/>
            </a:endParaRPr>
          </a:p>
          <a:p>
            <a:pPr indent="-298450" lvl="0" marL="457200" rtl="0" algn="l">
              <a:spcBef>
                <a:spcPts val="1200"/>
              </a:spcBef>
              <a:spcAft>
                <a:spcPts val="0"/>
              </a:spcAft>
              <a:buSzPts val="1100"/>
              <a:buFont typeface="Arial"/>
              <a:buChar char="●"/>
            </a:pPr>
            <a:r>
              <a:rPr b="1" lang="fr" sz="1100">
                <a:latin typeface="Times New Roman"/>
                <a:ea typeface="Times New Roman"/>
                <a:cs typeface="Times New Roman"/>
                <a:sym typeface="Times New Roman"/>
              </a:rPr>
              <a:t>Intitulé</a:t>
            </a:r>
            <a:r>
              <a:rPr lang="fr" sz="1100">
                <a:latin typeface="Times New Roman"/>
                <a:ea typeface="Times New Roman"/>
                <a:cs typeface="Times New Roman"/>
                <a:sym typeface="Times New Roman"/>
              </a:rPr>
              <a:t> : Lecture du contenu d’un répertoire</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Objectif</a:t>
            </a:r>
            <a:r>
              <a:rPr lang="fr" sz="1100">
                <a:latin typeface="Times New Roman"/>
                <a:ea typeface="Times New Roman"/>
                <a:cs typeface="Times New Roman"/>
                <a:sym typeface="Times New Roman"/>
              </a:rPr>
              <a:t> : Fournir la liste des entrées d’un répertoire</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Résumé</a:t>
            </a:r>
            <a:r>
              <a:rPr lang="fr" sz="1100">
                <a:latin typeface="Times New Roman"/>
                <a:ea typeface="Times New Roman"/>
                <a:cs typeface="Times New Roman"/>
                <a:sym typeface="Times New Roman"/>
              </a:rPr>
              <a:t> : MiniFS retourne au VFS les entrées du répertoire demandé.</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Acteurs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Noyau Linux / VFS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Préconditions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 système est monté</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 répertoire existe</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Postconditions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La liste des entrées est transmise au VFS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nominal</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lang="fr" sz="1100">
                <a:latin typeface="Times New Roman"/>
                <a:ea typeface="Times New Roman"/>
                <a:cs typeface="Times New Roman"/>
                <a:sym typeface="Times New Roman"/>
              </a:rPr>
              <a:t>Le VFS appelle l’opération </a:t>
            </a:r>
            <a:r>
              <a:rPr lang="fr" sz="1100">
                <a:solidFill>
                  <a:srgbClr val="188038"/>
                </a:solidFill>
                <a:latin typeface="Times New Roman"/>
                <a:ea typeface="Times New Roman"/>
                <a:cs typeface="Times New Roman"/>
                <a:sym typeface="Times New Roman"/>
              </a:rPr>
              <a:t>readdir</a:t>
            </a:r>
            <a:endParaRPr sz="1100">
              <a:solidFill>
                <a:srgbClr val="188038"/>
              </a:solidFill>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lit les blocs du répertoire</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retourne les entrées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alternatif</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Répertoire corrompu</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Erreur de lecture disque</a:t>
            </a:r>
            <a:endParaRPr b="1" sz="11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300"/>
              </a:spcBef>
              <a:spcAft>
                <a:spcPts val="0"/>
              </a:spcAft>
              <a:buNone/>
            </a:pPr>
            <a:r>
              <a:rPr lang="fr" sz="1200">
                <a:uFill>
                  <a:noFill/>
                </a:uFill>
                <a:latin typeface="Merriweather"/>
                <a:ea typeface="Merriweather"/>
                <a:cs typeface="Merriweather"/>
                <a:sym typeface="Merriweather"/>
                <a:hlinkClick r:id="rId3"/>
              </a:rPr>
              <a:t>C. CAS D’UTILISATIONS PROPREMENT DIT	</a:t>
            </a:r>
            <a:endParaRPr/>
          </a:p>
        </p:txBody>
      </p:sp>
      <p:sp>
        <p:nvSpPr>
          <p:cNvPr id="160" name="Google Shape;160;p29"/>
          <p:cNvSpPr txBox="1"/>
          <p:nvPr>
            <p:ph idx="1" type="body"/>
          </p:nvPr>
        </p:nvSpPr>
        <p:spPr>
          <a:xfrm>
            <a:off x="442700" y="762725"/>
            <a:ext cx="8520600" cy="41397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fr" sz="1700">
                <a:latin typeface="Arial"/>
                <a:ea typeface="Arial"/>
                <a:cs typeface="Arial"/>
                <a:sym typeface="Arial"/>
              </a:rPr>
              <a:t>Cas d’utilisation 8 : Formater une partition</a:t>
            </a:r>
            <a:endParaRPr b="1" sz="1700">
              <a:latin typeface="Arial"/>
              <a:ea typeface="Arial"/>
              <a:cs typeface="Arial"/>
              <a:sym typeface="Arial"/>
            </a:endParaRPr>
          </a:p>
          <a:p>
            <a:pPr indent="-298450" lvl="0" marL="457200" rtl="0" algn="l">
              <a:spcBef>
                <a:spcPts val="1200"/>
              </a:spcBef>
              <a:spcAft>
                <a:spcPts val="0"/>
              </a:spcAft>
              <a:buSzPts val="1100"/>
              <a:buFont typeface="Arial"/>
              <a:buChar char="●"/>
            </a:pPr>
            <a:r>
              <a:rPr b="1" lang="fr" sz="1100">
                <a:latin typeface="Times New Roman"/>
                <a:ea typeface="Times New Roman"/>
                <a:cs typeface="Times New Roman"/>
                <a:sym typeface="Times New Roman"/>
              </a:rPr>
              <a:t>Intitulé</a:t>
            </a:r>
            <a:r>
              <a:rPr lang="fr" sz="1100">
                <a:latin typeface="Times New Roman"/>
                <a:ea typeface="Times New Roman"/>
                <a:cs typeface="Times New Roman"/>
                <a:sym typeface="Times New Roman"/>
              </a:rPr>
              <a:t> : Formatage du système de fichiers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Objectif</a:t>
            </a:r>
            <a:r>
              <a:rPr lang="fr" sz="1100">
                <a:latin typeface="Times New Roman"/>
                <a:ea typeface="Times New Roman"/>
                <a:cs typeface="Times New Roman"/>
                <a:sym typeface="Times New Roman"/>
              </a:rPr>
              <a:t> : Initialiser une partition avec MiniFS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Résumé</a:t>
            </a:r>
            <a:r>
              <a:rPr lang="fr" sz="1100">
                <a:latin typeface="Times New Roman"/>
                <a:ea typeface="Times New Roman"/>
                <a:cs typeface="Times New Roman"/>
                <a:sym typeface="Times New Roman"/>
              </a:rPr>
              <a:t> : L’outil de formatage initialise toutes les structures internes de MiniFS.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Acteurs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lang="fr" sz="1100">
                <a:latin typeface="Times New Roman"/>
                <a:ea typeface="Times New Roman"/>
                <a:cs typeface="Times New Roman"/>
                <a:sym typeface="Times New Roman"/>
              </a:rPr>
              <a:t>Outil système </a:t>
            </a:r>
            <a:r>
              <a:rPr lang="fr" sz="1100">
                <a:solidFill>
                  <a:srgbClr val="188038"/>
                </a:solidFill>
                <a:latin typeface="Times New Roman"/>
                <a:ea typeface="Times New Roman"/>
                <a:cs typeface="Times New Roman"/>
                <a:sym typeface="Times New Roman"/>
              </a:rPr>
              <a:t>mkfs-mini</a:t>
            </a:r>
            <a:endParaRPr sz="1100">
              <a:solidFill>
                <a:srgbClr val="188038"/>
              </a:solidFill>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Préconditions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La partition est disponible</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Postconditions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Superbloc, inodes et bitmap initialisés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nominal</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L’outil appelle la procédure de formatage</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écrit le superbloc</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initialise la table des inodes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crée le répertoire racine</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alternatif</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Erreur d’écriture disque</a:t>
            </a:r>
            <a:endParaRPr b="1" sz="11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300"/>
              </a:spcBef>
              <a:spcAft>
                <a:spcPts val="0"/>
              </a:spcAft>
              <a:buNone/>
            </a:pPr>
            <a:r>
              <a:rPr lang="fr" sz="1200">
                <a:uFill>
                  <a:noFill/>
                </a:uFill>
                <a:latin typeface="Merriweather"/>
                <a:ea typeface="Merriweather"/>
                <a:cs typeface="Merriweather"/>
                <a:sym typeface="Merriweather"/>
                <a:hlinkClick r:id="rId3"/>
              </a:rPr>
              <a:t>C. CAS D’UTILISATIONS PROPREMENT DIT	</a:t>
            </a:r>
            <a:endParaRPr/>
          </a:p>
        </p:txBody>
      </p:sp>
      <p:sp>
        <p:nvSpPr>
          <p:cNvPr id="166" name="Google Shape;166;p30"/>
          <p:cNvSpPr txBox="1"/>
          <p:nvPr>
            <p:ph idx="1" type="body"/>
          </p:nvPr>
        </p:nvSpPr>
        <p:spPr>
          <a:xfrm>
            <a:off x="311700" y="723425"/>
            <a:ext cx="8520600" cy="41397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fr" sz="1700">
                <a:latin typeface="Arial"/>
                <a:ea typeface="Arial"/>
                <a:cs typeface="Arial"/>
                <a:sym typeface="Arial"/>
              </a:rPr>
              <a:t>Cas d’utilisation 9 : Démonter un système de fichiers</a:t>
            </a:r>
            <a:endParaRPr b="1" sz="1700">
              <a:latin typeface="Arial"/>
              <a:ea typeface="Arial"/>
              <a:cs typeface="Arial"/>
              <a:sym typeface="Arial"/>
            </a:endParaRPr>
          </a:p>
          <a:p>
            <a:pPr indent="-298450" lvl="0" marL="457200" rtl="0" algn="l">
              <a:spcBef>
                <a:spcPts val="1200"/>
              </a:spcBef>
              <a:spcAft>
                <a:spcPts val="0"/>
              </a:spcAft>
              <a:buSzPts val="1100"/>
              <a:buFont typeface="Arial"/>
              <a:buChar char="●"/>
            </a:pPr>
            <a:r>
              <a:rPr b="1" lang="fr" sz="1100">
                <a:latin typeface="Times New Roman"/>
                <a:ea typeface="Times New Roman"/>
                <a:cs typeface="Times New Roman"/>
                <a:sym typeface="Times New Roman"/>
              </a:rPr>
              <a:t>Intitulé</a:t>
            </a:r>
            <a:r>
              <a:rPr lang="fr" sz="1100">
                <a:latin typeface="Times New Roman"/>
                <a:ea typeface="Times New Roman"/>
                <a:cs typeface="Times New Roman"/>
                <a:sym typeface="Times New Roman"/>
              </a:rPr>
              <a:t> : Démontage du système de fichiers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Objectif</a:t>
            </a:r>
            <a:r>
              <a:rPr lang="fr" sz="1100">
                <a:latin typeface="Times New Roman"/>
                <a:ea typeface="Times New Roman"/>
                <a:cs typeface="Times New Roman"/>
                <a:sym typeface="Times New Roman"/>
              </a:rPr>
              <a:t> : Arrêter l’utilisation de MiniFS proprement</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Résumé</a:t>
            </a:r>
            <a:r>
              <a:rPr lang="fr" sz="1100">
                <a:latin typeface="Times New Roman"/>
                <a:ea typeface="Times New Roman"/>
                <a:cs typeface="Times New Roman"/>
                <a:sym typeface="Times New Roman"/>
              </a:rPr>
              <a:t> : Le VFS demande à MiniFS de synchroniser et libérer les ressources.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Acteurs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Noyau Linux / VFS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Préconditions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Le système est monté</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Postconditions</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Données synchronisées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Système démonté</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nominal</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Arial"/>
              <a:buChar char="○"/>
            </a:pPr>
            <a:r>
              <a:rPr lang="fr" sz="1100">
                <a:latin typeface="Times New Roman"/>
                <a:ea typeface="Times New Roman"/>
                <a:cs typeface="Times New Roman"/>
                <a:sym typeface="Times New Roman"/>
              </a:rPr>
              <a:t>Le VFS appelle l’opération </a:t>
            </a:r>
            <a:r>
              <a:rPr lang="fr" sz="1100">
                <a:solidFill>
                  <a:srgbClr val="188038"/>
                </a:solidFill>
                <a:latin typeface="Times New Roman"/>
                <a:ea typeface="Times New Roman"/>
                <a:cs typeface="Times New Roman"/>
                <a:sym typeface="Times New Roman"/>
              </a:rPr>
              <a:t>umount</a:t>
            </a:r>
            <a:endParaRPr sz="1100">
              <a:solidFill>
                <a:srgbClr val="188038"/>
              </a:solidFill>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synchronise les métadonnées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MiniFS libère les ressources</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fr" sz="1100">
                <a:latin typeface="Times New Roman"/>
                <a:ea typeface="Times New Roman"/>
                <a:cs typeface="Times New Roman"/>
                <a:sym typeface="Times New Roman"/>
              </a:rPr>
              <a:t>Scénario alternatif</a:t>
            </a:r>
            <a:r>
              <a:rPr lang="fr"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Fichiers encore ouverts</a:t>
            </a:r>
            <a:endParaRPr sz="1100">
              <a:latin typeface="Times New Roman"/>
              <a:ea typeface="Times New Roman"/>
              <a:cs typeface="Times New Roman"/>
              <a:sym typeface="Times New Roman"/>
            </a:endParaRPr>
          </a:p>
          <a:p>
            <a:pPr indent="-298450" lvl="1" marL="914400" rtl="0" algn="l">
              <a:spcBef>
                <a:spcPts val="0"/>
              </a:spcBef>
              <a:spcAft>
                <a:spcPts val="0"/>
              </a:spcAft>
              <a:buSzPts val="1100"/>
              <a:buFont typeface="Times New Roman"/>
              <a:buChar char="○"/>
            </a:pPr>
            <a:r>
              <a:rPr lang="fr" sz="1100">
                <a:latin typeface="Times New Roman"/>
                <a:ea typeface="Times New Roman"/>
                <a:cs typeface="Times New Roman"/>
                <a:sym typeface="Times New Roman"/>
              </a:rPr>
              <a:t>Échec de synchronisation</a:t>
            </a:r>
            <a:endParaRPr b="1" sz="11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300"/>
              </a:spcBef>
              <a:spcAft>
                <a:spcPts val="0"/>
              </a:spcAft>
              <a:buNone/>
            </a:pPr>
            <a:r>
              <a:rPr lang="fr" sz="1200">
                <a:uFill>
                  <a:noFill/>
                </a:uFill>
                <a:latin typeface="Merriweather"/>
                <a:ea typeface="Merriweather"/>
                <a:cs typeface="Merriweather"/>
                <a:sym typeface="Merriweather"/>
                <a:hlinkClick r:id="rId3"/>
              </a:rPr>
              <a:t>C. CAS D’UTILISATIONS PROPREMENT DIT	</a:t>
            </a:r>
            <a:endParaRPr/>
          </a:p>
        </p:txBody>
      </p:sp>
      <p:sp>
        <p:nvSpPr>
          <p:cNvPr id="172" name="Google Shape;172;p31"/>
          <p:cNvSpPr txBox="1"/>
          <p:nvPr>
            <p:ph idx="1" type="body"/>
          </p:nvPr>
        </p:nvSpPr>
        <p:spPr>
          <a:xfrm>
            <a:off x="-1268162" y="6470525"/>
            <a:ext cx="8520600" cy="33972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t/>
            </a:r>
            <a:endParaRPr b="1" sz="17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