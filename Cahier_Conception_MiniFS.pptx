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Cliquez pour déplacer 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la diapo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Cliquez pour modifier 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le format des notes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&lt;en-tête&gt;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3DC03B3-F469-427B-A4E1-93DCDAB033A4}" type="slidenum"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2B350B-6BF1-4671-93BF-AA93BF4A99F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942D90-3AE1-4C7F-A559-3519F3A800C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1F93E6-4117-4A58-AF89-EE363CD1F11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D6C7D6-D8BE-46BA-82E1-66B32941590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339930-70FF-450E-9F13-0269DAC9C06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31E67E-4EB9-4705-B9A7-439B06A8AEF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1A7B07-287A-4584-B546-24F54825353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3CB5FE-523A-4018-A09D-B8CCE0FA1D7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04CDD1-F160-4195-AA7A-0A3B0DB5E99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F3BDD3-CA9C-4C21-9C0C-86B5FFAAE11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99CF0B-CBE7-4242-800D-0D25B3C811A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E2AB6E-440B-4B3B-9D9C-0253B626B8F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Cliquez pour éditer le 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format du texte-titre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5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Cliquez pour éditer le format du plan de texte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400" spc="-1" strike="noStrike">
                <a:solidFill>
                  <a:schemeClr val="dk1"/>
                </a:solidFill>
                <a:latin typeface="Calibri"/>
              </a:rPr>
              <a:t>Second niveau de plan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Troisième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Quatrième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Cinquième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Sixième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Septième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410760" y="731880"/>
            <a:ext cx="8229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0" spc="-1" strike="noStrike">
                <a:solidFill>
                  <a:srgbClr val="ffffff"/>
                </a:solidFill>
                <a:latin typeface="Arial Black"/>
                <a:ea typeface="Arial Black"/>
              </a:rPr>
              <a:t>MINIFS</a:t>
            </a:r>
            <a:endParaRPr b="0" lang="fr-FR" sz="6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540000" y="19717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cadcfc"/>
                </a:solidFill>
                <a:latin typeface="Calibri"/>
                <a:ea typeface="Calibri"/>
              </a:rPr>
              <a:t>Système de Fichiers Minimal basé sur FUSE</a:t>
            </a:r>
            <a:endParaRPr b="0" lang="fr-F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457200" y="41400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CAHIER DE CONCEPTION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457200" y="4680000"/>
            <a:ext cx="82292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cadcfc"/>
                </a:solidFill>
                <a:latin typeface="Calibri"/>
                <a:ea typeface="Calibri"/>
              </a:rPr>
              <a:t>Master 2 - Systèmes et Réseaux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cadcfc"/>
                </a:solidFill>
                <a:latin typeface="Calibri"/>
                <a:ea typeface="Calibri"/>
              </a:rPr>
              <a:t>2026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30"/>
          <p:cNvSpPr/>
          <p:nvPr/>
        </p:nvSpPr>
        <p:spPr>
          <a:xfrm>
            <a:off x="540000" y="30517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cadcfc"/>
                </a:solidFill>
                <a:latin typeface="Calibri"/>
                <a:ea typeface="Calibri"/>
              </a:rPr>
              <a:t>Par : </a:t>
            </a:r>
            <a:endParaRPr b="0" lang="fr-FR" sz="2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cadcfc"/>
                </a:solidFill>
                <a:latin typeface="Calibri"/>
                <a:ea typeface="Calibri"/>
              </a:rPr>
              <a:t>Florian EFFA</a:t>
            </a:r>
            <a:endParaRPr b="0" lang="fr-FR" sz="2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cadcfc"/>
                </a:solidFill>
                <a:latin typeface="Calibri"/>
                <a:ea typeface="Calibri"/>
              </a:rPr>
              <a:t>&amp;</a:t>
            </a:r>
            <a:endParaRPr b="0" lang="fr-FR" sz="2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cadcfc"/>
                </a:solidFill>
                <a:latin typeface="Calibri"/>
                <a:ea typeface="Calibri"/>
              </a:rPr>
              <a:t>Josette KAMDOUM</a:t>
            </a:r>
            <a:endParaRPr b="0" lang="fr-FR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1e2761"/>
                </a:solidFill>
                <a:latin typeface="Arial Black"/>
                <a:ea typeface="Arial Black"/>
              </a:rPr>
              <a:t>Sommaire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 1"/>
          <p:cNvSpPr/>
          <p:nvPr/>
        </p:nvSpPr>
        <p:spPr>
          <a:xfrm>
            <a:off x="731520" y="13716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2"/>
          <p:cNvSpPr/>
          <p:nvPr/>
        </p:nvSpPr>
        <p:spPr>
          <a:xfrm>
            <a:off x="1371600" y="1371600"/>
            <a:ext cx="731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e2761"/>
                </a:solidFill>
                <a:latin typeface="Arial Black"/>
                <a:ea typeface="Arial Black"/>
              </a:rPr>
              <a:t>01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 3"/>
          <p:cNvSpPr/>
          <p:nvPr/>
        </p:nvSpPr>
        <p:spPr>
          <a:xfrm>
            <a:off x="2286000" y="137160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2c3e50"/>
                </a:solidFill>
                <a:latin typeface="Calibri"/>
                <a:ea typeface="Calibri"/>
              </a:rPr>
              <a:t>Contexte et Objectifs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5"/>
          <p:cNvSpPr/>
          <p:nvPr/>
        </p:nvSpPr>
        <p:spPr>
          <a:xfrm>
            <a:off x="1371600" y="2011680"/>
            <a:ext cx="731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e2761"/>
                </a:solidFill>
                <a:latin typeface="Arial Black"/>
                <a:ea typeface="Arial Black"/>
              </a:rPr>
              <a:t>02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6"/>
          <p:cNvSpPr/>
          <p:nvPr/>
        </p:nvSpPr>
        <p:spPr>
          <a:xfrm>
            <a:off x="2286000" y="201168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2c3e50"/>
                </a:solidFill>
                <a:latin typeface="Calibri"/>
                <a:ea typeface="Calibri"/>
              </a:rPr>
              <a:t>Architecture Globale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7"/>
          <p:cNvSpPr/>
          <p:nvPr/>
        </p:nvSpPr>
        <p:spPr>
          <a:xfrm>
            <a:off x="731520" y="26517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8"/>
          <p:cNvSpPr/>
          <p:nvPr/>
        </p:nvSpPr>
        <p:spPr>
          <a:xfrm>
            <a:off x="1371600" y="2651760"/>
            <a:ext cx="731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e2761"/>
                </a:solidFill>
                <a:latin typeface="Arial Black"/>
                <a:ea typeface="Arial Black"/>
              </a:rPr>
              <a:t>03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9"/>
          <p:cNvSpPr/>
          <p:nvPr/>
        </p:nvSpPr>
        <p:spPr>
          <a:xfrm>
            <a:off x="2286000" y="265176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2c3e50"/>
                </a:solidFill>
                <a:latin typeface="Calibri"/>
                <a:ea typeface="Calibri"/>
              </a:rPr>
              <a:t>Structures de Données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11"/>
          <p:cNvSpPr/>
          <p:nvPr/>
        </p:nvSpPr>
        <p:spPr>
          <a:xfrm>
            <a:off x="1371600" y="3291840"/>
            <a:ext cx="731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e2761"/>
                </a:solidFill>
                <a:latin typeface="Arial Black"/>
                <a:ea typeface="Arial Black"/>
              </a:rPr>
              <a:t>04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12"/>
          <p:cNvSpPr/>
          <p:nvPr/>
        </p:nvSpPr>
        <p:spPr>
          <a:xfrm>
            <a:off x="2286000" y="329184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2c3e50"/>
                </a:solidFill>
                <a:latin typeface="Calibri"/>
                <a:ea typeface="Calibri"/>
              </a:rPr>
              <a:t>Modules et Composants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13"/>
          <p:cNvSpPr/>
          <p:nvPr/>
        </p:nvSpPr>
        <p:spPr>
          <a:xfrm>
            <a:off x="731520" y="39319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14"/>
          <p:cNvSpPr/>
          <p:nvPr/>
        </p:nvSpPr>
        <p:spPr>
          <a:xfrm>
            <a:off x="1371600" y="3931920"/>
            <a:ext cx="731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e2761"/>
                </a:solidFill>
                <a:latin typeface="Arial Black"/>
                <a:ea typeface="Arial Black"/>
              </a:rPr>
              <a:t>05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15"/>
          <p:cNvSpPr/>
          <p:nvPr/>
        </p:nvSpPr>
        <p:spPr>
          <a:xfrm>
            <a:off x="2286000" y="393192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2c3e50"/>
                </a:solidFill>
                <a:latin typeface="Calibri"/>
                <a:ea typeface="Calibri"/>
              </a:rPr>
              <a:t>Interfaces Utilisateur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16"/>
          <p:cNvSpPr/>
          <p:nvPr/>
        </p:nvSpPr>
        <p:spPr>
          <a:xfrm>
            <a:off x="731520" y="4572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17"/>
          <p:cNvSpPr/>
          <p:nvPr/>
        </p:nvSpPr>
        <p:spPr>
          <a:xfrm>
            <a:off x="1371600" y="4572000"/>
            <a:ext cx="731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e2761"/>
                </a:solidFill>
                <a:latin typeface="Arial Black"/>
                <a:ea typeface="Arial Black"/>
              </a:rPr>
              <a:t>06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18"/>
          <p:cNvSpPr/>
          <p:nvPr/>
        </p:nvSpPr>
        <p:spPr>
          <a:xfrm>
            <a:off x="2286000" y="457200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2c3e50"/>
                </a:solidFill>
                <a:latin typeface="Calibri"/>
                <a:ea typeface="Calibri"/>
              </a:rPr>
              <a:t>Sécurité et Fiabilité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0"/>
          <p:cNvSpPr/>
          <p:nvPr/>
        </p:nvSpPr>
        <p:spPr>
          <a:xfrm>
            <a:off x="457200" y="274320"/>
            <a:ext cx="91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e2761"/>
                </a:solidFill>
                <a:latin typeface="Arial Black"/>
                <a:ea typeface="Arial Black"/>
              </a:rPr>
              <a:t>01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1"/>
          <p:cNvSpPr/>
          <p:nvPr/>
        </p:nvSpPr>
        <p:spPr>
          <a:xfrm>
            <a:off x="1463040" y="320040"/>
            <a:ext cx="6857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e2761"/>
                </a:solidFill>
                <a:latin typeface="Arial Black"/>
                <a:ea typeface="Arial Black"/>
              </a:rPr>
              <a:t>Contexte et Objectifs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Shape 2"/>
          <p:cNvSpPr/>
          <p:nvPr/>
        </p:nvSpPr>
        <p:spPr>
          <a:xfrm>
            <a:off x="457200" y="1097280"/>
            <a:ext cx="8229240" cy="16455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Text 3"/>
          <p:cNvSpPr/>
          <p:nvPr/>
        </p:nvSpPr>
        <p:spPr>
          <a:xfrm>
            <a:off x="640080" y="1188720"/>
            <a:ext cx="7863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Problématique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4"/>
          <p:cNvSpPr/>
          <p:nvPr/>
        </p:nvSpPr>
        <p:spPr>
          <a:xfrm>
            <a:off x="640080" y="1600200"/>
            <a:ext cx="78634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Concevoir un système de fichiers éducatif permettant de comprendre :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• 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Les mécanismes internes des systèmes de fichiers UNIX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• 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La gestion des métadonnées (inodes, blocs, répertoires)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• 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L'interaction avec le noyau via FUSE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hape 5"/>
          <p:cNvSpPr/>
          <p:nvPr/>
        </p:nvSpPr>
        <p:spPr>
          <a:xfrm>
            <a:off x="457200" y="3017520"/>
            <a:ext cx="3885840" cy="1096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6"/>
          <p:cNvSpPr/>
          <p:nvPr/>
        </p:nvSpPr>
        <p:spPr>
          <a:xfrm>
            <a:off x="640080" y="3154680"/>
            <a:ext cx="3520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e2761"/>
                </a:solidFill>
                <a:latin typeface="Calibri"/>
                <a:ea typeface="Calibri"/>
              </a:rPr>
              <a:t>Simplicité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7"/>
          <p:cNvSpPr/>
          <p:nvPr/>
        </p:nvSpPr>
        <p:spPr>
          <a:xfrm>
            <a:off x="640080" y="3566160"/>
            <a:ext cx="3520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Architecture minimale et compréhensible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hape 8"/>
          <p:cNvSpPr/>
          <p:nvPr/>
        </p:nvSpPr>
        <p:spPr>
          <a:xfrm>
            <a:off x="4800600" y="3017520"/>
            <a:ext cx="3885840" cy="1096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9"/>
          <p:cNvSpPr/>
          <p:nvPr/>
        </p:nvSpPr>
        <p:spPr>
          <a:xfrm>
            <a:off x="4983480" y="3154680"/>
            <a:ext cx="3520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e2761"/>
                </a:solidFill>
                <a:latin typeface="Calibri"/>
                <a:ea typeface="Calibri"/>
              </a:rPr>
              <a:t>Fonctionnalité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10"/>
          <p:cNvSpPr/>
          <p:nvPr/>
        </p:nvSpPr>
        <p:spPr>
          <a:xfrm>
            <a:off x="4983480" y="3566160"/>
            <a:ext cx="3520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Support des opérations essentielles (CRUD)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11"/>
          <p:cNvSpPr/>
          <p:nvPr/>
        </p:nvSpPr>
        <p:spPr>
          <a:xfrm>
            <a:off x="457200" y="4389120"/>
            <a:ext cx="3885840" cy="1096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12"/>
          <p:cNvSpPr/>
          <p:nvPr/>
        </p:nvSpPr>
        <p:spPr>
          <a:xfrm>
            <a:off x="640080" y="4526280"/>
            <a:ext cx="3520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e2761"/>
                </a:solidFill>
                <a:latin typeface="Calibri"/>
                <a:ea typeface="Calibri"/>
              </a:rPr>
              <a:t>Accessibilité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13"/>
          <p:cNvSpPr/>
          <p:nvPr/>
        </p:nvSpPr>
        <p:spPr>
          <a:xfrm>
            <a:off x="640080" y="4937760"/>
            <a:ext cx="3520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Interface graphique et outils CLI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14"/>
          <p:cNvSpPr/>
          <p:nvPr/>
        </p:nvSpPr>
        <p:spPr>
          <a:xfrm>
            <a:off x="4800600" y="4389120"/>
            <a:ext cx="3885840" cy="1096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15"/>
          <p:cNvSpPr/>
          <p:nvPr/>
        </p:nvSpPr>
        <p:spPr>
          <a:xfrm>
            <a:off x="4983480" y="4526280"/>
            <a:ext cx="3520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e2761"/>
                </a:solidFill>
                <a:latin typeface="Calibri"/>
                <a:ea typeface="Calibri"/>
              </a:rPr>
              <a:t>Fiabilité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16"/>
          <p:cNvSpPr/>
          <p:nvPr/>
        </p:nvSpPr>
        <p:spPr>
          <a:xfrm>
            <a:off x="4983480" y="4937760"/>
            <a:ext cx="3520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Vérification d'intégrité et récupération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0"/>
          <p:cNvSpPr/>
          <p:nvPr/>
        </p:nvSpPr>
        <p:spPr>
          <a:xfrm>
            <a:off x="457200" y="274320"/>
            <a:ext cx="91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e2761"/>
                </a:solidFill>
                <a:latin typeface="Arial Black"/>
                <a:ea typeface="Arial Black"/>
              </a:rPr>
              <a:t>02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1"/>
          <p:cNvSpPr/>
          <p:nvPr/>
        </p:nvSpPr>
        <p:spPr>
          <a:xfrm>
            <a:off x="1463040" y="320040"/>
            <a:ext cx="6857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e2761"/>
                </a:solidFill>
                <a:latin typeface="Arial Black"/>
                <a:ea typeface="Arial Black"/>
              </a:rPr>
              <a:t>Architecture Globale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2"/>
          <p:cNvSpPr/>
          <p:nvPr/>
        </p:nvSpPr>
        <p:spPr>
          <a:xfrm>
            <a:off x="900000" y="900000"/>
            <a:ext cx="7314840" cy="639720"/>
          </a:xfrm>
          <a:prstGeom prst="rect">
            <a:avLst/>
          </a:prstGeom>
          <a:solidFill>
            <a:srgbClr val="e8f4f8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3"/>
          <p:cNvSpPr/>
          <p:nvPr/>
        </p:nvSpPr>
        <p:spPr>
          <a:xfrm>
            <a:off x="914400" y="1097280"/>
            <a:ext cx="7314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Calibri"/>
                <a:ea typeface="Calibri"/>
              </a:rPr>
              <a:t>Applications Utilisateur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Shape 4"/>
          <p:cNvSpPr/>
          <p:nvPr/>
        </p:nvSpPr>
        <p:spPr>
          <a:xfrm>
            <a:off x="4572000" y="1737360"/>
            <a:ext cx="360" cy="91440"/>
          </a:xfrm>
          <a:prstGeom prst="line">
            <a:avLst/>
          </a:prstGeom>
          <a:ln w="25400">
            <a:solidFill>
              <a:srgbClr val="1e2761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Shape 5"/>
          <p:cNvSpPr/>
          <p:nvPr/>
        </p:nvSpPr>
        <p:spPr>
          <a:xfrm>
            <a:off x="900000" y="1700280"/>
            <a:ext cx="7314840" cy="639720"/>
          </a:xfrm>
          <a:prstGeom prst="rect">
            <a:avLst/>
          </a:prstGeom>
          <a:solidFill>
            <a:srgbClr val="c8e6f5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6"/>
          <p:cNvSpPr/>
          <p:nvPr/>
        </p:nvSpPr>
        <p:spPr>
          <a:xfrm>
            <a:off x="914400" y="1828800"/>
            <a:ext cx="7314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Calibri"/>
                <a:ea typeface="Calibri"/>
              </a:rPr>
              <a:t>Interface FUSE (minifs_fuse)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7"/>
          <p:cNvSpPr/>
          <p:nvPr/>
        </p:nvSpPr>
        <p:spPr>
          <a:xfrm>
            <a:off x="4572000" y="2468880"/>
            <a:ext cx="360" cy="91440"/>
          </a:xfrm>
          <a:prstGeom prst="line">
            <a:avLst/>
          </a:prstGeom>
          <a:ln w="25400">
            <a:solidFill>
              <a:srgbClr val="1e2761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8"/>
          <p:cNvSpPr/>
          <p:nvPr/>
        </p:nvSpPr>
        <p:spPr>
          <a:xfrm>
            <a:off x="914400" y="2560320"/>
            <a:ext cx="7314840" cy="639720"/>
          </a:xfrm>
          <a:prstGeom prst="rect">
            <a:avLst/>
          </a:prstGeom>
          <a:solidFill>
            <a:srgbClr val="84c5e3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9"/>
          <p:cNvSpPr/>
          <p:nvPr/>
        </p:nvSpPr>
        <p:spPr>
          <a:xfrm>
            <a:off x="914400" y="2468520"/>
            <a:ext cx="7314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Calibri"/>
                <a:ea typeface="Calibri"/>
              </a:rPr>
              <a:t>Couche Métier (Modules MiniFS)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10"/>
          <p:cNvSpPr/>
          <p:nvPr/>
        </p:nvSpPr>
        <p:spPr>
          <a:xfrm>
            <a:off x="4572000" y="3200400"/>
            <a:ext cx="360" cy="91440"/>
          </a:xfrm>
          <a:prstGeom prst="line">
            <a:avLst/>
          </a:prstGeom>
          <a:ln w="25400">
            <a:solidFill>
              <a:srgbClr val="1e2761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11"/>
          <p:cNvSpPr/>
          <p:nvPr/>
        </p:nvSpPr>
        <p:spPr>
          <a:xfrm>
            <a:off x="914400" y="3291840"/>
            <a:ext cx="7314840" cy="639720"/>
          </a:xfrm>
          <a:prstGeom prst="rect">
            <a:avLst/>
          </a:prstGeom>
          <a:solidFill>
            <a:srgbClr val="4a9fcc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12"/>
          <p:cNvSpPr/>
          <p:nvPr/>
        </p:nvSpPr>
        <p:spPr>
          <a:xfrm>
            <a:off x="914400" y="3291840"/>
            <a:ext cx="7314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Calibri"/>
                <a:ea typeface="Calibri"/>
              </a:rPr>
              <a:t>Gestion des Blocs &amp; Inodes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13"/>
          <p:cNvSpPr/>
          <p:nvPr/>
        </p:nvSpPr>
        <p:spPr>
          <a:xfrm>
            <a:off x="4572000" y="3931920"/>
            <a:ext cx="360" cy="91440"/>
          </a:xfrm>
          <a:prstGeom prst="line">
            <a:avLst/>
          </a:prstGeom>
          <a:ln w="25400">
            <a:solidFill>
              <a:srgbClr val="1e2761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14"/>
          <p:cNvSpPr/>
          <p:nvPr/>
        </p:nvSpPr>
        <p:spPr>
          <a:xfrm>
            <a:off x="914400" y="4023360"/>
            <a:ext cx="7314840" cy="639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15"/>
          <p:cNvSpPr/>
          <p:nvPr/>
        </p:nvSpPr>
        <p:spPr>
          <a:xfrm>
            <a:off x="914400" y="4023360"/>
            <a:ext cx="7314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Fichier Image (.img)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16"/>
          <p:cNvSpPr/>
          <p:nvPr/>
        </p:nvSpPr>
        <p:spPr>
          <a:xfrm>
            <a:off x="457200" y="48546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Flux d'opérations : Utilisateur → FUSE → MiniFS → Stockage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0"/>
          <p:cNvSpPr/>
          <p:nvPr/>
        </p:nvSpPr>
        <p:spPr>
          <a:xfrm>
            <a:off x="457200" y="274320"/>
            <a:ext cx="91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e2761"/>
                </a:solidFill>
                <a:latin typeface="Arial Black"/>
                <a:ea typeface="Arial Black"/>
              </a:rPr>
              <a:t>03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1"/>
          <p:cNvSpPr/>
          <p:nvPr/>
        </p:nvSpPr>
        <p:spPr>
          <a:xfrm>
            <a:off x="1463040" y="320040"/>
            <a:ext cx="6857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e2761"/>
                </a:solidFill>
                <a:latin typeface="Arial Black"/>
                <a:ea typeface="Arial Black"/>
              </a:rPr>
              <a:t>Structures de Données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2"/>
          <p:cNvSpPr/>
          <p:nvPr/>
        </p:nvSpPr>
        <p:spPr>
          <a:xfrm>
            <a:off x="457200" y="1097280"/>
            <a:ext cx="3885840" cy="210276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3"/>
          <p:cNvSpPr/>
          <p:nvPr/>
        </p:nvSpPr>
        <p:spPr>
          <a:xfrm>
            <a:off x="640080" y="1234440"/>
            <a:ext cx="3520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e2761"/>
                </a:solidFill>
                <a:latin typeface="Calibri"/>
                <a:ea typeface="Calibri"/>
              </a:rPr>
              <a:t>Superbloc (1024 bytes)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4"/>
          <p:cNvSpPr/>
          <p:nvPr/>
        </p:nvSpPr>
        <p:spPr>
          <a:xfrm>
            <a:off x="640080" y="1691640"/>
            <a:ext cx="35200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magic (0x4D494E46)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block_size (4096)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total_blocks / free_blocks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total_inodes / free_inodes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inode_table_block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data_block_start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timestamps (mount/write)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5"/>
          <p:cNvSpPr/>
          <p:nvPr/>
        </p:nvSpPr>
        <p:spPr>
          <a:xfrm>
            <a:off x="4800600" y="1097280"/>
            <a:ext cx="3885840" cy="210276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6"/>
          <p:cNvSpPr/>
          <p:nvPr/>
        </p:nvSpPr>
        <p:spPr>
          <a:xfrm>
            <a:off x="4983480" y="1234440"/>
            <a:ext cx="3520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e2761"/>
                </a:solidFill>
                <a:latin typeface="Calibri"/>
                <a:ea typeface="Calibri"/>
              </a:rPr>
              <a:t>Inode (256 bytes)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7"/>
          <p:cNvSpPr/>
          <p:nvPr/>
        </p:nvSpPr>
        <p:spPr>
          <a:xfrm>
            <a:off x="4983480" y="1691640"/>
            <a:ext cx="35200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mode (type + permissions)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uid / gid (propriétaire)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size (taille en octets)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timestamps (a/m/ctime)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block[12] (blocs directs)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indirect_block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blocks_count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8"/>
          <p:cNvSpPr/>
          <p:nvPr/>
        </p:nvSpPr>
        <p:spPr>
          <a:xfrm>
            <a:off x="457200" y="3474720"/>
            <a:ext cx="8229240" cy="1462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9"/>
          <p:cNvSpPr/>
          <p:nvPr/>
        </p:nvSpPr>
        <p:spPr>
          <a:xfrm>
            <a:off x="640080" y="3611880"/>
            <a:ext cx="7863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e2761"/>
                </a:solidFill>
                <a:latin typeface="Calibri"/>
                <a:ea typeface="Calibri"/>
              </a:rPr>
              <a:t>Entrée de Répertoire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10"/>
          <p:cNvSpPr/>
          <p:nvPr/>
        </p:nvSpPr>
        <p:spPr>
          <a:xfrm>
            <a:off x="640080" y="4069080"/>
            <a:ext cx="7863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inode (numéro d'inode)   • rec_len (longueur enregistrement)   • name_len (longueur nom)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file_type (REGULAR, DIR, SYMLINK...)   • name[256] (nom du fichier/dossier)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 0"/>
          <p:cNvSpPr/>
          <p:nvPr/>
        </p:nvSpPr>
        <p:spPr>
          <a:xfrm>
            <a:off x="457200" y="32004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e2761"/>
                </a:solidFill>
                <a:latin typeface="Arial Black"/>
                <a:ea typeface="Arial Black"/>
              </a:rPr>
              <a:t>Organisation sur Disque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1"/>
          <p:cNvSpPr/>
          <p:nvPr/>
        </p:nvSpPr>
        <p:spPr>
          <a:xfrm>
            <a:off x="457200" y="1188720"/>
            <a:ext cx="1828440" cy="639720"/>
          </a:xfrm>
          <a:prstGeom prst="rect">
            <a:avLst/>
          </a:prstGeom>
          <a:solidFill>
            <a:srgbClr val="9900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2"/>
          <p:cNvSpPr/>
          <p:nvPr/>
        </p:nvSpPr>
        <p:spPr>
          <a:xfrm>
            <a:off x="2468880" y="12344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Calibri"/>
                <a:ea typeface="Calibri"/>
              </a:rPr>
              <a:t>Superbloc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3"/>
          <p:cNvSpPr/>
          <p:nvPr/>
        </p:nvSpPr>
        <p:spPr>
          <a:xfrm>
            <a:off x="2468880" y="150876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1 bloc (0)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4"/>
          <p:cNvSpPr/>
          <p:nvPr/>
        </p:nvSpPr>
        <p:spPr>
          <a:xfrm>
            <a:off x="457200" y="1965960"/>
            <a:ext cx="1828440" cy="639720"/>
          </a:xfrm>
          <a:prstGeom prst="rect">
            <a:avLst/>
          </a:prstGeom>
          <a:solidFill>
            <a:srgbClr val="f961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5"/>
          <p:cNvSpPr/>
          <p:nvPr/>
        </p:nvSpPr>
        <p:spPr>
          <a:xfrm>
            <a:off x="2468880" y="20116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Calibri"/>
                <a:ea typeface="Calibri"/>
              </a:rPr>
              <a:t>Bitmap Inodes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6"/>
          <p:cNvSpPr/>
          <p:nvPr/>
        </p:nvSpPr>
        <p:spPr>
          <a:xfrm>
            <a:off x="2468880" y="22860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1 bloc (1)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7"/>
          <p:cNvSpPr/>
          <p:nvPr/>
        </p:nvSpPr>
        <p:spPr>
          <a:xfrm>
            <a:off x="457200" y="2743200"/>
            <a:ext cx="1828440" cy="639720"/>
          </a:xfrm>
          <a:prstGeom prst="rect">
            <a:avLst/>
          </a:prstGeom>
          <a:solidFill>
            <a:srgbClr val="4a9f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8"/>
          <p:cNvSpPr/>
          <p:nvPr/>
        </p:nvSpPr>
        <p:spPr>
          <a:xfrm>
            <a:off x="2468880" y="27889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Calibri"/>
                <a:ea typeface="Calibri"/>
              </a:rPr>
              <a:t>Table Inodes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9"/>
          <p:cNvSpPr/>
          <p:nvPr/>
        </p:nvSpPr>
        <p:spPr>
          <a:xfrm>
            <a:off x="2468880" y="30632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240 blocs (2-241)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10"/>
          <p:cNvSpPr/>
          <p:nvPr/>
        </p:nvSpPr>
        <p:spPr>
          <a:xfrm>
            <a:off x="457200" y="3520440"/>
            <a:ext cx="1828440" cy="639720"/>
          </a:xfrm>
          <a:prstGeom prst="rect">
            <a:avLst/>
          </a:prstGeom>
          <a:solidFill>
            <a:srgbClr val="f9e79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11"/>
          <p:cNvSpPr/>
          <p:nvPr/>
        </p:nvSpPr>
        <p:spPr>
          <a:xfrm>
            <a:off x="2468880" y="356616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Calibri"/>
                <a:ea typeface="Calibri"/>
              </a:rPr>
              <a:t>Bitmap Blocs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12"/>
          <p:cNvSpPr/>
          <p:nvPr/>
        </p:nvSpPr>
        <p:spPr>
          <a:xfrm>
            <a:off x="2468880" y="38404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4 blocs (242-245)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13"/>
          <p:cNvSpPr/>
          <p:nvPr/>
        </p:nvSpPr>
        <p:spPr>
          <a:xfrm>
            <a:off x="457200" y="4297680"/>
            <a:ext cx="1828440" cy="639720"/>
          </a:xfrm>
          <a:prstGeom prst="rect">
            <a:avLst/>
          </a:prstGeom>
          <a:solidFill>
            <a:srgbClr val="2c5f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 14"/>
          <p:cNvSpPr/>
          <p:nvPr/>
        </p:nvSpPr>
        <p:spPr>
          <a:xfrm>
            <a:off x="2468880" y="43434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Calibri"/>
                <a:ea typeface="Calibri"/>
              </a:rPr>
              <a:t>Données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15"/>
          <p:cNvSpPr/>
          <p:nvPr/>
        </p:nvSpPr>
        <p:spPr>
          <a:xfrm>
            <a:off x="2468880" y="46177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Restant (246-fin)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16"/>
          <p:cNvSpPr/>
          <p:nvPr/>
        </p:nvSpPr>
        <p:spPr>
          <a:xfrm>
            <a:off x="5486400" y="1188720"/>
            <a:ext cx="3200040" cy="338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17"/>
          <p:cNvSpPr/>
          <p:nvPr/>
        </p:nvSpPr>
        <p:spPr>
          <a:xfrm>
            <a:off x="5669280" y="1325880"/>
            <a:ext cx="2834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e2761"/>
                </a:solidFill>
                <a:latin typeface="Calibri"/>
                <a:ea typeface="Calibri"/>
              </a:rPr>
              <a:t>Allocation des Blocs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18"/>
          <p:cNvSpPr/>
          <p:nvPr/>
        </p:nvSpPr>
        <p:spPr>
          <a:xfrm>
            <a:off x="5669280" y="1783080"/>
            <a:ext cx="283428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Bloc 0: Superbloc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Bloc 1: Bitmap inodes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Blocs 2-241: Inodes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Blocs 242-245: Bitmap blocs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Blocs 246+: Données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99"/>
              </a:lnSpc>
              <a:tabLst>
                <a:tab algn="l" pos="0"/>
              </a:tabLst>
            </a:pP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Taille bloc: 4096 bytes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Max inodes: 4096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Taille inode: 256 bytes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0"/>
          <p:cNvSpPr/>
          <p:nvPr/>
        </p:nvSpPr>
        <p:spPr>
          <a:xfrm>
            <a:off x="457200" y="274320"/>
            <a:ext cx="91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e2761"/>
                </a:solidFill>
                <a:latin typeface="Arial Black"/>
                <a:ea typeface="Arial Black"/>
              </a:rPr>
              <a:t>04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1"/>
          <p:cNvSpPr/>
          <p:nvPr/>
        </p:nvSpPr>
        <p:spPr>
          <a:xfrm>
            <a:off x="1463040" y="320040"/>
            <a:ext cx="6857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e2761"/>
                </a:solidFill>
                <a:latin typeface="Arial Black"/>
                <a:ea typeface="Arial Black"/>
              </a:rPr>
              <a:t>Modules et Composants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2"/>
          <p:cNvSpPr/>
          <p:nvPr/>
        </p:nvSpPr>
        <p:spPr>
          <a:xfrm>
            <a:off x="457200" y="1188720"/>
            <a:ext cx="4114440" cy="1096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3"/>
          <p:cNvSpPr/>
          <p:nvPr/>
        </p:nvSpPr>
        <p:spPr>
          <a:xfrm>
            <a:off x="594360" y="128016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2761"/>
                </a:solidFill>
                <a:latin typeface="Calibri"/>
                <a:ea typeface="Calibri"/>
              </a:rPr>
              <a:t>filesystem.c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4"/>
          <p:cNvSpPr/>
          <p:nvPr/>
        </p:nvSpPr>
        <p:spPr>
          <a:xfrm>
            <a:off x="594360" y="160020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Format, montage, synchronisation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5"/>
          <p:cNvSpPr/>
          <p:nvPr/>
        </p:nvSpPr>
        <p:spPr>
          <a:xfrm>
            <a:off x="594360" y="187452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2c3e50"/>
                </a:solidFill>
                <a:latin typeface="Calibri"/>
                <a:ea typeface="Calibri"/>
              </a:rPr>
              <a:t>format() mount() unmount() sync()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6"/>
          <p:cNvSpPr/>
          <p:nvPr/>
        </p:nvSpPr>
        <p:spPr>
          <a:xfrm>
            <a:off x="4937760" y="1188720"/>
            <a:ext cx="4114440" cy="1096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7"/>
          <p:cNvSpPr/>
          <p:nvPr/>
        </p:nvSpPr>
        <p:spPr>
          <a:xfrm>
            <a:off x="5074920" y="128016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2761"/>
                </a:solidFill>
                <a:latin typeface="Calibri"/>
                <a:ea typeface="Calibri"/>
              </a:rPr>
              <a:t>inode.c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8"/>
          <p:cNvSpPr/>
          <p:nvPr/>
        </p:nvSpPr>
        <p:spPr>
          <a:xfrm>
            <a:off x="5074920" y="160020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Gestion des inodes et métadonnées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9"/>
          <p:cNvSpPr/>
          <p:nvPr/>
        </p:nvSpPr>
        <p:spPr>
          <a:xfrm>
            <a:off x="5074920" y="187452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2c3e50"/>
                </a:solidFill>
                <a:latin typeface="Calibri"/>
                <a:ea typeface="Calibri"/>
              </a:rPr>
              <a:t>alloc_inode() read_inode() write_inode()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10"/>
          <p:cNvSpPr/>
          <p:nvPr/>
        </p:nvSpPr>
        <p:spPr>
          <a:xfrm>
            <a:off x="457200" y="2514600"/>
            <a:ext cx="4114440" cy="1096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11"/>
          <p:cNvSpPr/>
          <p:nvPr/>
        </p:nvSpPr>
        <p:spPr>
          <a:xfrm>
            <a:off x="594360" y="260604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2761"/>
                </a:solidFill>
                <a:latin typeface="Calibri"/>
                <a:ea typeface="Calibri"/>
              </a:rPr>
              <a:t>block.c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12"/>
          <p:cNvSpPr/>
          <p:nvPr/>
        </p:nvSpPr>
        <p:spPr>
          <a:xfrm>
            <a:off x="594360" y="292608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Allocation et gestion des blocs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13"/>
          <p:cNvSpPr/>
          <p:nvPr/>
        </p:nvSpPr>
        <p:spPr>
          <a:xfrm>
            <a:off x="594360" y="320040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2c3e50"/>
                </a:solidFill>
                <a:latin typeface="Calibri"/>
                <a:ea typeface="Calibri"/>
              </a:rPr>
              <a:t>alloc_block() read_block() write_block()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14"/>
          <p:cNvSpPr/>
          <p:nvPr/>
        </p:nvSpPr>
        <p:spPr>
          <a:xfrm>
            <a:off x="4937760" y="2514600"/>
            <a:ext cx="4114440" cy="1096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15"/>
          <p:cNvSpPr/>
          <p:nvPr/>
        </p:nvSpPr>
        <p:spPr>
          <a:xfrm>
            <a:off x="5074920" y="260604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2761"/>
                </a:solidFill>
                <a:latin typeface="Calibri"/>
                <a:ea typeface="Calibri"/>
              </a:rPr>
              <a:t>directory.c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16"/>
          <p:cNvSpPr/>
          <p:nvPr/>
        </p:nvSpPr>
        <p:spPr>
          <a:xfrm>
            <a:off x="5074920" y="292608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Opérations sur répertoires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17"/>
          <p:cNvSpPr/>
          <p:nvPr/>
        </p:nvSpPr>
        <p:spPr>
          <a:xfrm>
            <a:off x="5074920" y="320040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2c3e50"/>
                </a:solidFill>
                <a:latin typeface="Calibri"/>
                <a:ea typeface="Calibri"/>
              </a:rPr>
              <a:t>readdir() lookup() add_entry() remove_entry()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18"/>
          <p:cNvSpPr/>
          <p:nvPr/>
        </p:nvSpPr>
        <p:spPr>
          <a:xfrm>
            <a:off x="457200" y="3840480"/>
            <a:ext cx="4114440" cy="1096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19"/>
          <p:cNvSpPr/>
          <p:nvPr/>
        </p:nvSpPr>
        <p:spPr>
          <a:xfrm>
            <a:off x="594360" y="393192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2761"/>
                </a:solidFill>
                <a:latin typeface="Calibri"/>
                <a:ea typeface="Calibri"/>
              </a:rPr>
              <a:t>file_ops.c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20"/>
          <p:cNvSpPr/>
          <p:nvPr/>
        </p:nvSpPr>
        <p:spPr>
          <a:xfrm>
            <a:off x="594360" y="425196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Opérations sur fichiers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21"/>
          <p:cNvSpPr/>
          <p:nvPr/>
        </p:nvSpPr>
        <p:spPr>
          <a:xfrm>
            <a:off x="594360" y="452628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2c3e50"/>
                </a:solidFill>
                <a:latin typeface="Calibri"/>
                <a:ea typeface="Calibri"/>
              </a:rPr>
              <a:t>create() read() write() truncate() unlink()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22"/>
          <p:cNvSpPr/>
          <p:nvPr/>
        </p:nvSpPr>
        <p:spPr>
          <a:xfrm>
            <a:off x="4937760" y="3840480"/>
            <a:ext cx="4114440" cy="1096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23"/>
          <p:cNvSpPr/>
          <p:nvPr/>
        </p:nvSpPr>
        <p:spPr>
          <a:xfrm>
            <a:off x="5074920" y="393192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2761"/>
                </a:solidFill>
                <a:latin typeface="Calibri"/>
                <a:ea typeface="Calibri"/>
              </a:rPr>
              <a:t>main.c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24"/>
          <p:cNvSpPr/>
          <p:nvPr/>
        </p:nvSpPr>
        <p:spPr>
          <a:xfrm>
            <a:off x="5074920" y="425196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Interface FUSE et dispatching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25"/>
          <p:cNvSpPr/>
          <p:nvPr/>
        </p:nvSpPr>
        <p:spPr>
          <a:xfrm>
            <a:off x="5074920" y="452628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2c3e50"/>
                </a:solidFill>
                <a:latin typeface="Calibri"/>
                <a:ea typeface="Calibri"/>
              </a:rPr>
              <a:t>getattr() mkdir() open() release()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 0"/>
          <p:cNvSpPr/>
          <p:nvPr/>
        </p:nvSpPr>
        <p:spPr>
          <a:xfrm>
            <a:off x="457200" y="32004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e2761"/>
                </a:solidFill>
                <a:latin typeface="Arial Black"/>
                <a:ea typeface="Arial Black"/>
              </a:rPr>
              <a:t>Outils Système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1"/>
          <p:cNvSpPr/>
          <p:nvPr/>
        </p:nvSpPr>
        <p:spPr>
          <a:xfrm>
            <a:off x="457200" y="1188720"/>
            <a:ext cx="4114440" cy="164556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3"/>
          <p:cNvSpPr/>
          <p:nvPr/>
        </p:nvSpPr>
        <p:spPr>
          <a:xfrm>
            <a:off x="1143000" y="132588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e2761"/>
                </a:solidFill>
                <a:latin typeface="Calibri"/>
                <a:ea typeface="Calibri"/>
              </a:rPr>
              <a:t>mkfs.minifs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4"/>
          <p:cNvSpPr/>
          <p:nvPr/>
        </p:nvSpPr>
        <p:spPr>
          <a:xfrm>
            <a:off x="594360" y="173736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Formatage et création du système de fichiers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5"/>
          <p:cNvSpPr/>
          <p:nvPr/>
        </p:nvSpPr>
        <p:spPr>
          <a:xfrm>
            <a:off x="594360" y="2057400"/>
            <a:ext cx="3840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Initialisation superbloc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Création répertoire racine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Allocation bitmaps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6"/>
          <p:cNvSpPr/>
          <p:nvPr/>
        </p:nvSpPr>
        <p:spPr>
          <a:xfrm>
            <a:off x="4937760" y="1188720"/>
            <a:ext cx="4114440" cy="164556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8"/>
          <p:cNvSpPr/>
          <p:nvPr/>
        </p:nvSpPr>
        <p:spPr>
          <a:xfrm>
            <a:off x="5623560" y="132588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e2761"/>
                </a:solidFill>
                <a:latin typeface="Calibri"/>
                <a:ea typeface="Calibri"/>
              </a:rPr>
              <a:t>fsck.minifs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9"/>
          <p:cNvSpPr/>
          <p:nvPr/>
        </p:nvSpPr>
        <p:spPr>
          <a:xfrm>
            <a:off x="5074920" y="173736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Vérification et réparation d'intégrité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10"/>
          <p:cNvSpPr/>
          <p:nvPr/>
        </p:nvSpPr>
        <p:spPr>
          <a:xfrm>
            <a:off x="5074920" y="2057400"/>
            <a:ext cx="3840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Vérification superbloc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Validation inodes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Détection fuites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11"/>
          <p:cNvSpPr/>
          <p:nvPr/>
        </p:nvSpPr>
        <p:spPr>
          <a:xfrm>
            <a:off x="457200" y="3108960"/>
            <a:ext cx="4114440" cy="164556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13"/>
          <p:cNvSpPr/>
          <p:nvPr/>
        </p:nvSpPr>
        <p:spPr>
          <a:xfrm>
            <a:off x="1143000" y="324612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e2761"/>
                </a:solidFill>
                <a:latin typeface="Calibri"/>
                <a:ea typeface="Calibri"/>
              </a:rPr>
              <a:t>debugfs.minifs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14"/>
          <p:cNvSpPr/>
          <p:nvPr/>
        </p:nvSpPr>
        <p:spPr>
          <a:xfrm>
            <a:off x="594360" y="365760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Inspection et statistiques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15"/>
          <p:cNvSpPr/>
          <p:nvPr/>
        </p:nvSpPr>
        <p:spPr>
          <a:xfrm>
            <a:off x="594360" y="3977640"/>
            <a:ext cx="3840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Affichage statistiques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Analyse fragmentation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Dump structures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16"/>
          <p:cNvSpPr/>
          <p:nvPr/>
        </p:nvSpPr>
        <p:spPr>
          <a:xfrm>
            <a:off x="4937760" y="3108960"/>
            <a:ext cx="4114440" cy="164556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18"/>
          <p:cNvSpPr/>
          <p:nvPr/>
        </p:nvSpPr>
        <p:spPr>
          <a:xfrm>
            <a:off x="5623560" y="324612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e2761"/>
                </a:solidFill>
                <a:latin typeface="Calibri"/>
                <a:ea typeface="Calibri"/>
              </a:rPr>
              <a:t>mount.minifs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19"/>
          <p:cNvSpPr/>
          <p:nvPr/>
        </p:nvSpPr>
        <p:spPr>
          <a:xfrm>
            <a:off x="5074920" y="365760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Helper de montage système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20"/>
          <p:cNvSpPr/>
          <p:nvPr/>
        </p:nvSpPr>
        <p:spPr>
          <a:xfrm>
            <a:off x="5074920" y="3977640"/>
            <a:ext cx="3840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Intégration /etc/fstab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Validation paramètres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Options montage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 0"/>
          <p:cNvSpPr/>
          <p:nvPr/>
        </p:nvSpPr>
        <p:spPr>
          <a:xfrm>
            <a:off x="457200" y="274320"/>
            <a:ext cx="91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e2761"/>
                </a:solidFill>
                <a:latin typeface="Arial Black"/>
                <a:ea typeface="Arial Black"/>
              </a:rPr>
              <a:t>05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1"/>
          <p:cNvSpPr/>
          <p:nvPr/>
        </p:nvSpPr>
        <p:spPr>
          <a:xfrm>
            <a:off x="1463040" y="320040"/>
            <a:ext cx="6857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e2761"/>
                </a:solidFill>
                <a:latin typeface="Arial Black"/>
                <a:ea typeface="Arial Black"/>
              </a:rPr>
              <a:t>Interfaces Utilisateur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2"/>
          <p:cNvSpPr/>
          <p:nvPr/>
        </p:nvSpPr>
        <p:spPr>
          <a:xfrm>
            <a:off x="457200" y="1097280"/>
            <a:ext cx="4114440" cy="228564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3"/>
          <p:cNvSpPr/>
          <p:nvPr/>
        </p:nvSpPr>
        <p:spPr>
          <a:xfrm>
            <a:off x="640080" y="1234440"/>
            <a:ext cx="3748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e2761"/>
                </a:solidFill>
                <a:latin typeface="Calibri"/>
                <a:ea typeface="Calibri"/>
              </a:rPr>
              <a:t>Interface CLI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4"/>
          <p:cNvSpPr/>
          <p:nvPr/>
        </p:nvSpPr>
        <p:spPr>
          <a:xfrm>
            <a:off x="640080" y="1691640"/>
            <a:ext cx="374868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onsolas"/>
                <a:ea typeface="Consolas"/>
              </a:rPr>
              <a:t>Commande simplifiée: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onsolas"/>
                <a:ea typeface="Consolas"/>
              </a:rPr>
              <a:t>minifs-easy [create|mount|umount|check|stats]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onsolas"/>
                <a:ea typeface="Consolas"/>
              </a:rPr>
              <a:t>Exemples: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onsolas"/>
                <a:ea typeface="Consolas"/>
              </a:rPr>
              <a:t>$ minifs-easy create disk.img 500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onsolas"/>
                <a:ea typeface="Consolas"/>
              </a:rPr>
              <a:t>$ minifs-easy mount disk.img ~/mnt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onsolas"/>
                <a:ea typeface="Consolas"/>
              </a:rPr>
              <a:t>$ minifs-easy check disk.img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onsolas"/>
                <a:ea typeface="Consolas"/>
              </a:rPr>
              <a:t>Automatisation des tâches courantes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onsolas"/>
                <a:ea typeface="Consolas"/>
              </a:rPr>
              <a:t>avec gestion des permissions sudo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5"/>
          <p:cNvSpPr/>
          <p:nvPr/>
        </p:nvSpPr>
        <p:spPr>
          <a:xfrm>
            <a:off x="4800600" y="1097280"/>
            <a:ext cx="3885840" cy="228564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6"/>
          <p:cNvSpPr/>
          <p:nvPr/>
        </p:nvSpPr>
        <p:spPr>
          <a:xfrm>
            <a:off x="4983480" y="1234440"/>
            <a:ext cx="3520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e2761"/>
                </a:solidFill>
                <a:latin typeface="Calibri"/>
                <a:ea typeface="Calibri"/>
              </a:rPr>
              <a:t>Interface Graphique GTK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7"/>
          <p:cNvSpPr/>
          <p:nvPr/>
        </p:nvSpPr>
        <p:spPr>
          <a:xfrm>
            <a:off x="4983480" y="1691640"/>
            <a:ext cx="352008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Onglet Création/Formatage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Onglet Montage/Démontage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Onglet Vérification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Onglet Statistiques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Montage direct avec pkexec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Bouton RESET complet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Logs en temps réel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Navigation fichiers intégrée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8"/>
          <p:cNvSpPr/>
          <p:nvPr/>
        </p:nvSpPr>
        <p:spPr>
          <a:xfrm>
            <a:off x="457200" y="3657600"/>
            <a:ext cx="8229240" cy="137124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 9"/>
          <p:cNvSpPr/>
          <p:nvPr/>
        </p:nvSpPr>
        <p:spPr>
          <a:xfrm>
            <a:off x="640080" y="379476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Workflow Utilisateur Complet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10"/>
          <p:cNvSpPr/>
          <p:nvPr/>
        </p:nvSpPr>
        <p:spPr>
          <a:xfrm>
            <a:off x="640080" y="4160520"/>
            <a:ext cx="7863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1. Création image → 2. Formatage → 3. Montage → 4. Utilisation → 5. Démontage → 6. Vérification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 0"/>
          <p:cNvSpPr/>
          <p:nvPr/>
        </p:nvSpPr>
        <p:spPr>
          <a:xfrm>
            <a:off x="457200" y="274320"/>
            <a:ext cx="91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e2761"/>
                </a:solidFill>
                <a:latin typeface="Arial Black"/>
                <a:ea typeface="Arial Black"/>
              </a:rPr>
              <a:t>06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1"/>
          <p:cNvSpPr/>
          <p:nvPr/>
        </p:nvSpPr>
        <p:spPr>
          <a:xfrm>
            <a:off x="1463040" y="320040"/>
            <a:ext cx="6857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e2761"/>
                </a:solidFill>
                <a:latin typeface="Arial Black"/>
                <a:ea typeface="Arial Black"/>
              </a:rPr>
              <a:t>Sécurité et Fiabilité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2"/>
          <p:cNvSpPr/>
          <p:nvPr/>
        </p:nvSpPr>
        <p:spPr>
          <a:xfrm>
            <a:off x="457200" y="1188720"/>
            <a:ext cx="4114440" cy="1554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3"/>
          <p:cNvSpPr/>
          <p:nvPr/>
        </p:nvSpPr>
        <p:spPr>
          <a:xfrm>
            <a:off x="594360" y="1325880"/>
            <a:ext cx="456840" cy="4568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 4"/>
          <p:cNvSpPr/>
          <p:nvPr/>
        </p:nvSpPr>
        <p:spPr>
          <a:xfrm>
            <a:off x="594360" y="13258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5"/>
          <p:cNvSpPr/>
          <p:nvPr/>
        </p:nvSpPr>
        <p:spPr>
          <a:xfrm>
            <a:off x="1143000" y="137160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e2761"/>
                </a:solidFill>
                <a:latin typeface="Calibri"/>
                <a:ea typeface="Calibri"/>
              </a:rPr>
              <a:t>Intégrité des Données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6"/>
          <p:cNvSpPr/>
          <p:nvPr/>
        </p:nvSpPr>
        <p:spPr>
          <a:xfrm>
            <a:off x="594360" y="187452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Magic number pour validation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7"/>
          <p:cNvSpPr/>
          <p:nvPr/>
        </p:nvSpPr>
        <p:spPr>
          <a:xfrm>
            <a:off x="594360" y="213048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Checksums sur superbloc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8"/>
          <p:cNvSpPr/>
          <p:nvPr/>
        </p:nvSpPr>
        <p:spPr>
          <a:xfrm>
            <a:off x="594360" y="238644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Vérification cohérence inodes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9"/>
          <p:cNvSpPr/>
          <p:nvPr/>
        </p:nvSpPr>
        <p:spPr>
          <a:xfrm>
            <a:off x="4937760" y="1188720"/>
            <a:ext cx="4114440" cy="1554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10"/>
          <p:cNvSpPr/>
          <p:nvPr/>
        </p:nvSpPr>
        <p:spPr>
          <a:xfrm>
            <a:off x="5074920" y="1325880"/>
            <a:ext cx="456840" cy="4568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 11"/>
          <p:cNvSpPr/>
          <p:nvPr/>
        </p:nvSpPr>
        <p:spPr>
          <a:xfrm>
            <a:off x="5074920" y="13258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12"/>
          <p:cNvSpPr/>
          <p:nvPr/>
        </p:nvSpPr>
        <p:spPr>
          <a:xfrm>
            <a:off x="5623560" y="137160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e2761"/>
                </a:solidFill>
                <a:latin typeface="Calibri"/>
                <a:ea typeface="Calibri"/>
              </a:rPr>
              <a:t>Gestion des Erreurs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13"/>
          <p:cNvSpPr/>
          <p:nvPr/>
        </p:nvSpPr>
        <p:spPr>
          <a:xfrm>
            <a:off x="5074920" y="187452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Codes d'erreur POSIX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14"/>
          <p:cNvSpPr/>
          <p:nvPr/>
        </p:nvSpPr>
        <p:spPr>
          <a:xfrm>
            <a:off x="5074920" y="213048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Logging détaillé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15"/>
          <p:cNvSpPr/>
          <p:nvPr/>
        </p:nvSpPr>
        <p:spPr>
          <a:xfrm>
            <a:off x="5074920" y="238644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Mode dégradé sécurisé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Shape 16"/>
          <p:cNvSpPr/>
          <p:nvPr/>
        </p:nvSpPr>
        <p:spPr>
          <a:xfrm>
            <a:off x="457200" y="3017520"/>
            <a:ext cx="4114440" cy="1554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17"/>
          <p:cNvSpPr/>
          <p:nvPr/>
        </p:nvSpPr>
        <p:spPr>
          <a:xfrm>
            <a:off x="594360" y="3154680"/>
            <a:ext cx="456840" cy="4568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 18"/>
          <p:cNvSpPr/>
          <p:nvPr/>
        </p:nvSpPr>
        <p:spPr>
          <a:xfrm>
            <a:off x="594360" y="31546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19"/>
          <p:cNvSpPr/>
          <p:nvPr/>
        </p:nvSpPr>
        <p:spPr>
          <a:xfrm>
            <a:off x="1143000" y="320040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e2761"/>
                </a:solidFill>
                <a:latin typeface="Calibri"/>
                <a:ea typeface="Calibri"/>
              </a:rPr>
              <a:t>Synchronisation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20"/>
          <p:cNvSpPr/>
          <p:nvPr/>
        </p:nvSpPr>
        <p:spPr>
          <a:xfrm>
            <a:off x="594360" y="370332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Mutex sur opérations critiques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21"/>
          <p:cNvSpPr/>
          <p:nvPr/>
        </p:nvSpPr>
        <p:spPr>
          <a:xfrm>
            <a:off x="594360" y="395928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Sync périodique sur disque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22"/>
          <p:cNvSpPr/>
          <p:nvPr/>
        </p:nvSpPr>
        <p:spPr>
          <a:xfrm>
            <a:off x="594360" y="421524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Write-back cohérent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23"/>
          <p:cNvSpPr/>
          <p:nvPr/>
        </p:nvSpPr>
        <p:spPr>
          <a:xfrm>
            <a:off x="4937760" y="3017520"/>
            <a:ext cx="4114440" cy="1554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24"/>
          <p:cNvSpPr/>
          <p:nvPr/>
        </p:nvSpPr>
        <p:spPr>
          <a:xfrm>
            <a:off x="5074920" y="3154680"/>
            <a:ext cx="456840" cy="4568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 25"/>
          <p:cNvSpPr/>
          <p:nvPr/>
        </p:nvSpPr>
        <p:spPr>
          <a:xfrm>
            <a:off x="5074920" y="31546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26"/>
          <p:cNvSpPr/>
          <p:nvPr/>
        </p:nvSpPr>
        <p:spPr>
          <a:xfrm>
            <a:off x="5623560" y="320040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e2761"/>
                </a:solidFill>
                <a:latin typeface="Calibri"/>
                <a:ea typeface="Calibri"/>
              </a:rPr>
              <a:t>Récupération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27"/>
          <p:cNvSpPr/>
          <p:nvPr/>
        </p:nvSpPr>
        <p:spPr>
          <a:xfrm>
            <a:off x="5074920" y="370332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fsck pour réparation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28"/>
          <p:cNvSpPr/>
          <p:nvPr/>
        </p:nvSpPr>
        <p:spPr>
          <a:xfrm>
            <a:off x="5074920" y="395928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Détection blocs perdus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29"/>
          <p:cNvSpPr/>
          <p:nvPr/>
        </p:nvSpPr>
        <p:spPr>
          <a:xfrm>
            <a:off x="5074920" y="421524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Reconstruction superbloc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 0"/>
          <p:cNvSpPr/>
          <p:nvPr/>
        </p:nvSpPr>
        <p:spPr>
          <a:xfrm>
            <a:off x="457200" y="32004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e2761"/>
                </a:solidFill>
                <a:latin typeface="Arial Black"/>
                <a:ea typeface="Arial Black"/>
              </a:rPr>
              <a:t>Limitations et Évolutions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1"/>
          <p:cNvSpPr/>
          <p:nvPr/>
        </p:nvSpPr>
        <p:spPr>
          <a:xfrm>
            <a:off x="457200" y="1097280"/>
            <a:ext cx="4114440" cy="2102760"/>
          </a:xfrm>
          <a:prstGeom prst="rect">
            <a:avLst/>
          </a:prstGeom>
          <a:solidFill>
            <a:srgbClr val="ffeeee"/>
          </a:solidFill>
          <a:ln w="25400">
            <a:solidFill>
              <a:srgbClr val="9900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2"/>
          <p:cNvSpPr/>
          <p:nvPr/>
        </p:nvSpPr>
        <p:spPr>
          <a:xfrm>
            <a:off x="640080" y="1234440"/>
            <a:ext cx="3748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990011"/>
                </a:solidFill>
                <a:latin typeface="Calibri"/>
                <a:ea typeface="Calibri"/>
              </a:rPr>
              <a:t> </a:t>
            </a:r>
            <a:r>
              <a:rPr b="1" lang="en-US" sz="1800" spc="-1" strike="noStrike">
                <a:solidFill>
                  <a:srgbClr val="990011"/>
                </a:solidFill>
                <a:latin typeface="Calibri"/>
                <a:ea typeface="Calibri"/>
              </a:rPr>
              <a:t>Limitations Actuelles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3"/>
          <p:cNvSpPr/>
          <p:nvPr/>
        </p:nvSpPr>
        <p:spPr>
          <a:xfrm>
            <a:off x="640080" y="1691640"/>
            <a:ext cx="37486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Taille fichier limitée (~50 MB)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Un seul niveau d'indirection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Pas de journalisation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Pas de liens symboliques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Permissions simplifiées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Mono-utilisateur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4"/>
          <p:cNvSpPr/>
          <p:nvPr/>
        </p:nvSpPr>
        <p:spPr>
          <a:xfrm>
            <a:off x="4800600" y="1097280"/>
            <a:ext cx="3885840" cy="2102760"/>
          </a:xfrm>
          <a:prstGeom prst="rect">
            <a:avLst/>
          </a:prstGeom>
          <a:solidFill>
            <a:srgbClr val="e8f8e8"/>
          </a:solidFill>
          <a:ln w="25400">
            <a:solidFill>
              <a:srgbClr val="2c5f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5"/>
          <p:cNvSpPr/>
          <p:nvPr/>
        </p:nvSpPr>
        <p:spPr>
          <a:xfrm>
            <a:off x="4983480" y="1234440"/>
            <a:ext cx="3520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c5f2d"/>
                </a:solidFill>
                <a:latin typeface="Calibri"/>
                <a:ea typeface="Calibri"/>
              </a:rPr>
              <a:t> </a:t>
            </a:r>
            <a:r>
              <a:rPr b="1" lang="en-US" sz="1800" spc="-1" strike="noStrike">
                <a:solidFill>
                  <a:srgbClr val="2c5f2d"/>
                </a:solidFill>
                <a:latin typeface="Calibri"/>
                <a:ea typeface="Calibri"/>
              </a:rPr>
              <a:t>Évolutions Futures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6"/>
          <p:cNvSpPr/>
          <p:nvPr/>
        </p:nvSpPr>
        <p:spPr>
          <a:xfrm>
            <a:off x="4983480" y="1691640"/>
            <a:ext cx="35200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Indirection multi-niveaux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Journalisation (journal)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Liens symboliques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ACL avancées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Compression à la volée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Snapshot/Backup incrémental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7"/>
          <p:cNvSpPr/>
          <p:nvPr/>
        </p:nvSpPr>
        <p:spPr>
          <a:xfrm>
            <a:off x="457200" y="3474720"/>
            <a:ext cx="8229240" cy="1554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8"/>
          <p:cNvSpPr/>
          <p:nvPr/>
        </p:nvSpPr>
        <p:spPr>
          <a:xfrm>
            <a:off x="640080" y="3611880"/>
            <a:ext cx="7863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e2761"/>
                </a:solidFill>
                <a:latin typeface="Calibri"/>
                <a:ea typeface="Calibri"/>
              </a:rPr>
              <a:t> </a:t>
            </a:r>
            <a:r>
              <a:rPr b="1" lang="en-US" sz="1800" spc="-1" strike="noStrike">
                <a:solidFill>
                  <a:srgbClr val="1e2761"/>
                </a:solidFill>
                <a:latin typeface="Calibri"/>
                <a:ea typeface="Calibri"/>
              </a:rPr>
              <a:t>Métriques de Performance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9"/>
          <p:cNvSpPr/>
          <p:nvPr/>
        </p:nvSpPr>
        <p:spPr>
          <a:xfrm>
            <a:off x="640080" y="411480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Création fichier: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10"/>
          <p:cNvSpPr/>
          <p:nvPr/>
        </p:nvSpPr>
        <p:spPr>
          <a:xfrm>
            <a:off x="2926080" y="411480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e2761"/>
                </a:solidFill>
                <a:latin typeface="Calibri"/>
                <a:ea typeface="Calibri"/>
              </a:rPr>
              <a:t>&lt; 1 ms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11"/>
          <p:cNvSpPr/>
          <p:nvPr/>
        </p:nvSpPr>
        <p:spPr>
          <a:xfrm>
            <a:off x="4754880" y="411480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Lecture séquentielle: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12"/>
          <p:cNvSpPr/>
          <p:nvPr/>
        </p:nvSpPr>
        <p:spPr>
          <a:xfrm>
            <a:off x="7040880" y="411480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e2761"/>
                </a:solidFill>
                <a:latin typeface="Calibri"/>
                <a:ea typeface="Calibri"/>
              </a:rPr>
              <a:t>~80 MB/s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13"/>
          <p:cNvSpPr/>
          <p:nvPr/>
        </p:nvSpPr>
        <p:spPr>
          <a:xfrm>
            <a:off x="640080" y="448056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Écriture séquentielle: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14"/>
          <p:cNvSpPr/>
          <p:nvPr/>
        </p:nvSpPr>
        <p:spPr>
          <a:xfrm>
            <a:off x="2926080" y="448056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e2761"/>
                </a:solidFill>
                <a:latin typeface="Calibri"/>
                <a:ea typeface="Calibri"/>
              </a:rPr>
              <a:t>~70 MB/s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15"/>
          <p:cNvSpPr/>
          <p:nvPr/>
        </p:nvSpPr>
        <p:spPr>
          <a:xfrm>
            <a:off x="4754880" y="448056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Recherche dans répertoire: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 16"/>
          <p:cNvSpPr/>
          <p:nvPr/>
        </p:nvSpPr>
        <p:spPr>
          <a:xfrm>
            <a:off x="7040880" y="448056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e2761"/>
                </a:solidFill>
                <a:latin typeface="Calibri"/>
                <a:ea typeface="Calibri"/>
              </a:rPr>
              <a:t>O(n) linéaire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ext 0"/>
          <p:cNvSpPr/>
          <p:nvPr/>
        </p:nvSpPr>
        <p:spPr>
          <a:xfrm>
            <a:off x="457200" y="137160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Arial Black"/>
                <a:ea typeface="Arial Black"/>
              </a:rPr>
              <a:t>Conclusion</a:t>
            </a:r>
            <a:endParaRPr b="0" lang="fr-F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Text 1"/>
          <p:cNvSpPr/>
          <p:nvPr/>
        </p:nvSpPr>
        <p:spPr>
          <a:xfrm>
            <a:off x="457200" y="228600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ts val="32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cadcfc"/>
                </a:solidFill>
                <a:latin typeface="Calibri"/>
                <a:ea typeface="Calibri"/>
              </a:rPr>
              <a:t>MiniFS : Un système de fichiers</a:t>
            </a:r>
            <a:endParaRPr b="0" lang="fr-FR" sz="2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ts val="32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cadcfc"/>
                </a:solidFill>
                <a:latin typeface="Calibri"/>
                <a:ea typeface="Calibri"/>
              </a:rPr>
              <a:t>éducatif, fonctionnel et accessible</a:t>
            </a:r>
            <a:endParaRPr b="0" lang="fr-F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 2"/>
          <p:cNvSpPr/>
          <p:nvPr/>
        </p:nvSpPr>
        <p:spPr>
          <a:xfrm>
            <a:off x="1371600" y="34747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✓ </a:t>
            </a:r>
            <a:r>
              <a:rPr b="0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Architecture complète et modulaire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Text 3"/>
          <p:cNvSpPr/>
          <p:nvPr/>
        </p:nvSpPr>
        <p:spPr>
          <a:xfrm>
            <a:off x="1371600" y="379476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✓ </a:t>
            </a:r>
            <a:r>
              <a:rPr b="0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Outils système professionnels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 4"/>
          <p:cNvSpPr/>
          <p:nvPr/>
        </p:nvSpPr>
        <p:spPr>
          <a:xfrm>
            <a:off x="1371600" y="411480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✓ </a:t>
            </a:r>
            <a:r>
              <a:rPr b="0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Interfaces utilisateur (CLI + GUI)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 5"/>
          <p:cNvSpPr/>
          <p:nvPr/>
        </p:nvSpPr>
        <p:spPr>
          <a:xfrm>
            <a:off x="1371600" y="443484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✓ </a:t>
            </a:r>
            <a:r>
              <a:rPr b="0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Documentation exhaustive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 6"/>
          <p:cNvSpPr/>
          <p:nvPr/>
        </p:nvSpPr>
        <p:spPr>
          <a:xfrm>
            <a:off x="457200" y="484632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cadcfc"/>
                </a:solidFill>
                <a:latin typeface="Calibri"/>
                <a:ea typeface="Calibri"/>
              </a:rPr>
              <a:t>Merci de votre attention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2026-03-25T16:24:29Z</dcterms:created>
  <dc:creator>Projet MiniFS - Master 2</dc:creator>
  <dc:description/>
  <dc:language>fr-FR</dc:language>
  <cp:lastModifiedBy/>
  <dcterms:modified xsi:type="dcterms:W3CDTF">2026-03-25T18:23:42Z</dcterms:modified>
  <cp:revision>2</cp:revision>
  <dc:subject>Cahier de Conception - Système de Fichiers MiniFS</dc:subject>
  <dc:title>MiniFS - Cahier de Conception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